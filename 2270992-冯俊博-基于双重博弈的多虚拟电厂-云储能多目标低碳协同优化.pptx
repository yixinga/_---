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8" r:id="rId1"/>
    <p:sldMasterId id="2147483671" r:id="rId2"/>
    <p:sldMasterId id="2147483686" r:id="rId3"/>
  </p:sldMasterIdLst>
  <p:notesMasterIdLst>
    <p:notesMasterId r:id="rId42"/>
  </p:notesMasterIdLst>
  <p:sldIdLst>
    <p:sldId id="256" r:id="rId4"/>
    <p:sldId id="525" r:id="rId5"/>
    <p:sldId id="343" r:id="rId6"/>
    <p:sldId id="576" r:id="rId7"/>
    <p:sldId id="527" r:id="rId8"/>
    <p:sldId id="344" r:id="rId9"/>
    <p:sldId id="530" r:id="rId10"/>
    <p:sldId id="577" r:id="rId11"/>
    <p:sldId id="575" r:id="rId12"/>
    <p:sldId id="553" r:id="rId13"/>
    <p:sldId id="550" r:id="rId14"/>
    <p:sldId id="555" r:id="rId15"/>
    <p:sldId id="554" r:id="rId16"/>
    <p:sldId id="534" r:id="rId17"/>
    <p:sldId id="535" r:id="rId18"/>
    <p:sldId id="544" r:id="rId19"/>
    <p:sldId id="536" r:id="rId20"/>
    <p:sldId id="537" r:id="rId21"/>
    <p:sldId id="545" r:id="rId22"/>
    <p:sldId id="568" r:id="rId23"/>
    <p:sldId id="570" r:id="rId24"/>
    <p:sldId id="569" r:id="rId25"/>
    <p:sldId id="539" r:id="rId26"/>
    <p:sldId id="564" r:id="rId27"/>
    <p:sldId id="578" r:id="rId28"/>
    <p:sldId id="579" r:id="rId29"/>
    <p:sldId id="580" r:id="rId30"/>
    <p:sldId id="563" r:id="rId31"/>
    <p:sldId id="558" r:id="rId32"/>
    <p:sldId id="572" r:id="rId33"/>
    <p:sldId id="581" r:id="rId34"/>
    <p:sldId id="561" r:id="rId35"/>
    <p:sldId id="582" r:id="rId36"/>
    <p:sldId id="583" r:id="rId37"/>
    <p:sldId id="529" r:id="rId38"/>
    <p:sldId id="565" r:id="rId39"/>
    <p:sldId id="532" r:id="rId40"/>
    <p:sldId id="552" r:id="rId41"/>
  </p:sldIdLst>
  <p:sldSz cx="9144000" cy="5141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F2995DA-7F72-4DE5-BDF6-AF8215F26FDC}">
          <p14:sldIdLst>
            <p14:sldId id="256"/>
            <p14:sldId id="525"/>
          </p14:sldIdLst>
        </p14:section>
        <p14:section name="绪论" id="{FBF8E2DA-F3BC-4520-8E47-E344A90FE005}">
          <p14:sldIdLst>
            <p14:sldId id="343"/>
            <p14:sldId id="576"/>
            <p14:sldId id="527"/>
          </p14:sldIdLst>
        </p14:section>
        <p14:section name="研究内容1" id="{E3D7A890-E657-48DA-9FF1-76BB05F01620}">
          <p14:sldIdLst>
            <p14:sldId id="344"/>
            <p14:sldId id="530"/>
            <p14:sldId id="577"/>
            <p14:sldId id="575"/>
            <p14:sldId id="553"/>
            <p14:sldId id="550"/>
            <p14:sldId id="555"/>
          </p14:sldIdLst>
        </p14:section>
        <p14:section name="研究内容2" id="{4D536BB7-9ECD-4523-AE83-886F36854AE4}">
          <p14:sldIdLst>
            <p14:sldId id="554"/>
            <p14:sldId id="534"/>
            <p14:sldId id="535"/>
            <p14:sldId id="544"/>
            <p14:sldId id="536"/>
            <p14:sldId id="537"/>
            <p14:sldId id="545"/>
            <p14:sldId id="568"/>
            <p14:sldId id="570"/>
            <p14:sldId id="569"/>
            <p14:sldId id="539"/>
          </p14:sldIdLst>
        </p14:section>
        <p14:section name="第四章" id="{8AADFA3A-537E-4936-8B25-42675588AE45}">
          <p14:sldIdLst>
            <p14:sldId id="564"/>
            <p14:sldId id="578"/>
            <p14:sldId id="579"/>
            <p14:sldId id="580"/>
            <p14:sldId id="563"/>
            <p14:sldId id="558"/>
            <p14:sldId id="572"/>
            <p14:sldId id="581"/>
            <p14:sldId id="561"/>
            <p14:sldId id="582"/>
            <p14:sldId id="583"/>
          </p14:sldIdLst>
        </p14:section>
        <p14:section name="5" id="{FB3984B8-C800-44FD-90E6-E4F5747C5E81}">
          <p14:sldIdLst>
            <p14:sldId id="529"/>
            <p14:sldId id="565"/>
            <p14:sldId id="532"/>
            <p14:sldId id="5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2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61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70C0"/>
    <a:srgbClr val="DBEEF4"/>
    <a:srgbClr val="FFFAE8"/>
    <a:srgbClr val="DEEBF6"/>
    <a:srgbClr val="C4C4C4"/>
    <a:srgbClr val="000000"/>
    <a:srgbClr val="E26053"/>
    <a:srgbClr val="7132A2"/>
    <a:srgbClr val="FC3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7" autoAdjust="0"/>
    <p:restoredTop sz="84398" autoAdjust="0"/>
  </p:normalViewPr>
  <p:slideViewPr>
    <p:cSldViewPr showGuides="1">
      <p:cViewPr varScale="1">
        <p:scale>
          <a:sx n="126" d="100"/>
          <a:sy n="126" d="100"/>
        </p:scale>
        <p:origin x="456" y="108"/>
      </p:cViewPr>
      <p:guideLst>
        <p:guide orient="horz" pos="1200"/>
        <p:guide pos="2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 showGuides="1">
      <p:cViewPr varScale="1">
        <p:scale>
          <a:sx n="86" d="100"/>
          <a:sy n="86" d="100"/>
        </p:scale>
        <p:origin x="-3846" y="-90"/>
      </p:cViewPr>
      <p:guideLst>
        <p:guide orient="horz" pos="2661"/>
        <p:guide pos="221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Relationship Id="rId14" Type="http://schemas.openxmlformats.org/officeDocument/2006/relationships/image" Target="../media/image28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w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11" Type="http://schemas.openxmlformats.org/officeDocument/2006/relationships/image" Target="../media/image62.wmf"/><Relationship Id="rId5" Type="http://schemas.openxmlformats.org/officeDocument/2006/relationships/image" Target="../media/image56.emf"/><Relationship Id="rId10" Type="http://schemas.openxmlformats.org/officeDocument/2006/relationships/image" Target="../media/image61.emf"/><Relationship Id="rId4" Type="http://schemas.openxmlformats.org/officeDocument/2006/relationships/image" Target="../media/image55.emf"/><Relationship Id="rId9" Type="http://schemas.openxmlformats.org/officeDocument/2006/relationships/image" Target="../media/image6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image" Target="../media/image94.emf"/><Relationship Id="rId7" Type="http://schemas.openxmlformats.org/officeDocument/2006/relationships/image" Target="../media/image98.emf"/><Relationship Id="rId12" Type="http://schemas.openxmlformats.org/officeDocument/2006/relationships/image" Target="../media/image103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Relationship Id="rId6" Type="http://schemas.openxmlformats.org/officeDocument/2006/relationships/image" Target="../media/image97.emf"/><Relationship Id="rId11" Type="http://schemas.openxmlformats.org/officeDocument/2006/relationships/image" Target="../media/image102.emf"/><Relationship Id="rId5" Type="http://schemas.openxmlformats.org/officeDocument/2006/relationships/image" Target="../media/image96.emf"/><Relationship Id="rId10" Type="http://schemas.openxmlformats.org/officeDocument/2006/relationships/image" Target="../media/image101.emf"/><Relationship Id="rId4" Type="http://schemas.openxmlformats.org/officeDocument/2006/relationships/image" Target="../media/image95.wmf"/><Relationship Id="rId9" Type="http://schemas.openxmlformats.org/officeDocument/2006/relationships/image" Target="../media/image100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image" Target="../media/image106.emf"/><Relationship Id="rId7" Type="http://schemas.openxmlformats.org/officeDocument/2006/relationships/image" Target="../media/image110.emf"/><Relationship Id="rId2" Type="http://schemas.openxmlformats.org/officeDocument/2006/relationships/image" Target="../media/image105.emf"/><Relationship Id="rId1" Type="http://schemas.openxmlformats.org/officeDocument/2006/relationships/image" Target="../media/image104.wmf"/><Relationship Id="rId6" Type="http://schemas.openxmlformats.org/officeDocument/2006/relationships/image" Target="../media/image109.emf"/><Relationship Id="rId5" Type="http://schemas.openxmlformats.org/officeDocument/2006/relationships/image" Target="../media/image108.emf"/><Relationship Id="rId10" Type="http://schemas.openxmlformats.org/officeDocument/2006/relationships/image" Target="../media/image113.emf"/><Relationship Id="rId4" Type="http://schemas.openxmlformats.org/officeDocument/2006/relationships/image" Target="../media/image107.emf"/><Relationship Id="rId9" Type="http://schemas.openxmlformats.org/officeDocument/2006/relationships/image" Target="../media/image11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9097E-DDD7-483D-B357-48CFAB5DA0B6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5E652-0FE1-4A17-B02D-BB6472ECDD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各位老师上午好，我是冯俊博，我的论文题目是基于双重博弈的多虚拟电厂</a:t>
            </a:r>
            <a:r>
              <a:rPr lang="en-US" altLang="zh-CN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云储能多目标低碳协同优化。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5E652-0FE1-4A17-B02D-BB6472ECDD4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论文内容将从以下五部分展开。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52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1B783C6C-8896-58D8-C33C-C0994FC9A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7C75D95B-DC2A-B0B5-0C44-394255D12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双碳战略与电力市场改革背景下，研究配电网架构下云储能引导的多虚拟电厂电</a:t>
            </a:r>
            <a:r>
              <a:rPr lang="en-US" altLang="zh-CN" b="1" dirty="0"/>
              <a:t>-</a:t>
            </a:r>
            <a:r>
              <a:rPr lang="zh-CN" altLang="en-US" b="1" dirty="0"/>
              <a:t>碳联合分布式交易求解方法。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E7B31-7E22-831F-85E2-FC40D7F39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1761D-A8E9-4CE0-A3B2-11888C128D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1B783C6C-8896-58D8-C33C-C0994FC9A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7C75D95B-DC2A-B0B5-0C44-394255D12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研究现状知识图谱如图所示。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E7B31-7E22-831F-85E2-FC40D7F39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1761D-A8E9-4CE0-A3B2-11888C128D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23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本文主要研究内容框架如图所示。首先介绍本文的研究背景及意义，然后对</a:t>
            </a:r>
            <a:r>
              <a:rPr lang="en-US" altLang="zh-CN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VPP</a:t>
            </a:r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内部分布式资源建模并进行分布式优化，</a:t>
            </a:r>
            <a:endParaRPr lang="en-US" altLang="zh-CN" sz="1800" b="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提出多虚拟电厂</a:t>
            </a:r>
            <a:r>
              <a:rPr lang="en-US" altLang="zh-CN" sz="18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云储能的低碳混合博弈研究和电</a:t>
            </a:r>
            <a:r>
              <a:rPr lang="en-US" altLang="zh-CN" sz="18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碳联合市场下多虚拟电厂优化调度策略</a:t>
            </a:r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，最后对本文研究进行总结并给出未来研究方向的展望。</a:t>
            </a:r>
            <a:endParaRPr lang="en-US" altLang="zh-CN" sz="1800" b="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075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6645C858-BCD3-552C-E9E4-2E561DF96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F3ACECA0-3079-E8F8-DF1D-F82CB0BA2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研究内容</a:t>
            </a:r>
            <a:r>
              <a:rPr lang="en-US" altLang="zh-CN" dirty="0"/>
              <a:t>1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分布式资源建模与多虚拟电厂分布式优化。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E6B841-4729-1586-2C19-4A1CF89C0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首先建立含碳捕集协同垃圾焚烧的虚拟电厂系统结构。</a:t>
            </a:r>
            <a:endParaRPr lang="en-US" altLang="zh-CN" sz="1200" b="0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179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综合考虑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分布式资源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特点，从电力供应角度、环境经济效益角度、时间尺度层面、空间尺度层面对形态各异的分布式资源进行特性互补分析，以实现对分布式资源的最佳利用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b="0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除了选取新能源发电作为减少碳排的一个环节之外，又设置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碳捕集和垃圾焚烧电厂，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减轻垃圾处理的压力的同时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减少二氧化碳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的排放。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这是碳捕集和垃圾焚烧技术的工作原理，好处是既能很好的消纳弃光弃风，同时兼顾环境效益。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15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建立虚拟电厂系统设备的数学模型。</a:t>
            </a:r>
            <a:endParaRPr lang="en-US" altLang="zh-CN" sz="1200" b="0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341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建立价格需求响应模型引导用户合理用电，通过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ADMM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算法求解多虚拟电厂分布式优化问题，选取我国某地区电网实际网架为基础，进行算例分析。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141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VPP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的内部交易电价低于与电网的交互电价，系统优先选择内部交易以降低成本。同时，通过需求响应策略，负荷曲线实现了“削峰填谷”，提高了新能源的消纳能力。此外，垃圾焚烧电厂和碳捕集系统的协同运行不仅提升了系统的环境效益，还增强了系统的灵活性和稳定性。储能设备在平抑新能源出力波动中发挥了重要作用，而各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VPP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之间的电能交互进一步优化了能源配置，减少了对传统能源的依赖。</a:t>
            </a:r>
            <a:endParaRPr lang="en-US" altLang="zh-CN" sz="1200" b="1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509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6645C858-BCD3-552C-E9E4-2E561DF96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F3ACECA0-3079-E8F8-DF1D-F82CB0BA2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研究内容</a:t>
            </a:r>
            <a:r>
              <a:rPr lang="en-US" altLang="zh-CN" dirty="0"/>
              <a:t>2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多虚拟电厂</a:t>
            </a:r>
            <a:r>
              <a:rPr lang="en-US" altLang="zh-CN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云储能的低碳混合博弈研究。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E6B841-4729-1586-2C19-4A1CF89C0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350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在第二章的基础上研究引入云储能，</a:t>
            </a:r>
            <a:r>
              <a:rPr lang="en-US" altLang="zh-CN" dirty="0"/>
              <a:t>VPP</a:t>
            </a:r>
            <a:r>
              <a:rPr lang="zh-CN" altLang="en-US" dirty="0"/>
              <a:t>与</a:t>
            </a:r>
            <a:r>
              <a:rPr lang="en-US" altLang="zh-CN" dirty="0"/>
              <a:t>CSO</a:t>
            </a:r>
            <a:r>
              <a:rPr lang="zh-CN" altLang="en-US" dirty="0"/>
              <a:t>的进行能量交互，确保其内部负荷需求得到满足。通过</a:t>
            </a:r>
            <a:r>
              <a:rPr lang="en-US" altLang="zh-CN" dirty="0"/>
              <a:t>VPP</a:t>
            </a:r>
            <a:r>
              <a:rPr lang="zh-CN" altLang="en-US" dirty="0"/>
              <a:t>的碳交易计算模型实现无偿碳配额和实际碳排放的计算。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87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CSO-MVPP</a:t>
            </a:r>
            <a:r>
              <a:rPr lang="zh-CN" altLang="en-US" b="1" dirty="0"/>
              <a:t>主从博弈和</a:t>
            </a:r>
            <a:r>
              <a:rPr lang="en-US" altLang="zh-CN" b="1" dirty="0"/>
              <a:t>MVPP</a:t>
            </a:r>
            <a:r>
              <a:rPr lang="zh-CN" altLang="en-US" b="1" dirty="0"/>
              <a:t>之间的合作博弈构成了混合博弈双层能量模型。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476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建立多虚拟电厂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云储能的低碳混合博弈模型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，上层为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CSO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优化模型，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下层为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MVPP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优化模型。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81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混合博弈双层优化问题求解流程分为两阶段，阶段一通过</a:t>
            </a:r>
            <a:r>
              <a:rPr lang="en-US" altLang="zh-CN" dirty="0"/>
              <a:t>YALMIP</a:t>
            </a:r>
            <a:r>
              <a:rPr lang="zh-CN" altLang="en-US" dirty="0"/>
              <a:t>调用</a:t>
            </a:r>
            <a:r>
              <a:rPr lang="en-US" altLang="zh-CN" dirty="0"/>
              <a:t>CPLEX</a:t>
            </a:r>
            <a:r>
              <a:rPr lang="zh-CN" altLang="en-US" dirty="0"/>
              <a:t>求解，通过遗传算法进行循环迭代，阶段二，通过</a:t>
            </a:r>
            <a:r>
              <a:rPr lang="en-US" altLang="zh-CN" dirty="0"/>
              <a:t>ADMM</a:t>
            </a:r>
            <a:r>
              <a:rPr lang="zh-CN" altLang="en-US" dirty="0"/>
              <a:t>求解</a:t>
            </a:r>
            <a:r>
              <a:rPr lang="en-US" altLang="zh-CN" dirty="0"/>
              <a:t>VPP</a:t>
            </a:r>
            <a:r>
              <a:rPr lang="zh-CN" altLang="en-US" dirty="0"/>
              <a:t>间电</a:t>
            </a:r>
            <a:r>
              <a:rPr lang="en-US" altLang="zh-CN" dirty="0"/>
              <a:t>/</a:t>
            </a:r>
            <a:r>
              <a:rPr lang="zh-CN" altLang="en-US" dirty="0"/>
              <a:t>热能交易价格，优化能量交易量。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124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以某地区电网实际网架为基础结构，设置</a:t>
            </a:r>
            <a:r>
              <a:rPr lang="en-US" altLang="zh-CN" b="1" dirty="0"/>
              <a:t>4</a:t>
            </a:r>
            <a:r>
              <a:rPr lang="zh-CN" altLang="en-US" b="1" dirty="0"/>
              <a:t>种场景进行仿真验证。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180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电热价格引导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先完成内部功率平衡，再与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87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成本迭代曲线证明本文使用的遗传算法结合</a:t>
            </a:r>
            <a:r>
              <a:rPr lang="en-US" altLang="zh-CN" dirty="0"/>
              <a:t>ADMM</a:t>
            </a:r>
            <a:r>
              <a:rPr lang="zh-CN" altLang="en-US" dirty="0"/>
              <a:t>能够有效减少迭代次数。</a:t>
            </a:r>
            <a:r>
              <a:rPr lang="en-US" altLang="zh-CN" dirty="0"/>
              <a:t>CSO</a:t>
            </a:r>
            <a:r>
              <a:rPr lang="zh-CN" altLang="en-US" dirty="0"/>
              <a:t>在大多数时段与电网和</a:t>
            </a:r>
            <a:r>
              <a:rPr lang="en-US" altLang="zh-CN" dirty="0"/>
              <a:t>MVPP</a:t>
            </a:r>
            <a:r>
              <a:rPr lang="zh-CN" altLang="en-US" dirty="0"/>
              <a:t>进行了电能交互，实现整个系统的能量平衡。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382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通过分析不同场景的运行成本及</a:t>
            </a:r>
            <a:r>
              <a:rPr lang="en-US" altLang="zh-CN" dirty="0"/>
              <a:t>VPP</a:t>
            </a:r>
            <a:r>
              <a:rPr lang="zh-CN" altLang="en-US" dirty="0"/>
              <a:t>合作前后成本，参与碳交易市场不仅能降低</a:t>
            </a:r>
            <a:r>
              <a:rPr lang="en-US" altLang="zh-CN" dirty="0"/>
              <a:t>VPP</a:t>
            </a:r>
            <a:r>
              <a:rPr lang="zh-CN" altLang="en-US" dirty="0"/>
              <a:t>的成本，还能有效减少碳排量，从而提升多</a:t>
            </a:r>
            <a:r>
              <a:rPr lang="en-US" altLang="zh-CN" dirty="0"/>
              <a:t>VPP</a:t>
            </a:r>
            <a:r>
              <a:rPr lang="zh-CN" altLang="en-US" dirty="0"/>
              <a:t>的低碳性和交互能力。同时由于纳什谈判的引入使得在</a:t>
            </a:r>
            <a:r>
              <a:rPr lang="en-US" altLang="zh-CN" dirty="0"/>
              <a:t>MVPP</a:t>
            </a:r>
            <a:r>
              <a:rPr lang="zh-CN" altLang="en-US" dirty="0"/>
              <a:t>总成本降低的同时，各</a:t>
            </a:r>
            <a:r>
              <a:rPr lang="en-US" altLang="zh-CN" dirty="0"/>
              <a:t>VPP</a:t>
            </a:r>
            <a:r>
              <a:rPr lang="zh-CN" altLang="en-US" dirty="0"/>
              <a:t>的成本有所降低，表明了合作博弈有效地减小了源荷波动对系统的影响，实现了更公平的成本分配。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414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碳捕集协同垃圾焚烧电厂在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内部不同时刻表现出力的差异性，保证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内部的电能平衡，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在产生电能过程中，还会产生热能提供一部分热负荷需求，其他热能由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提供，满足用户热负荷需求。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142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中加入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减碳效果良好，同时可以看出碳捕集电厂的效率在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70%-90%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之间，这是因为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需要满足负荷需求的情况下提供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能耗。在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07:00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24:00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两个典型时段内，由于可再生能源发电占比显著提升，同时电网负荷需求处于低谷期，导致碳排放差额呈现负值分布，表明该时段内实际碳排放量未超出无偿配额额度。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695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6645C858-BCD3-552C-E9E4-2E561DF96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F3ACECA0-3079-E8F8-DF1D-F82CB0BA2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研究内容</a:t>
            </a:r>
            <a:r>
              <a:rPr lang="en-US" altLang="zh-CN" dirty="0"/>
              <a:t>3</a:t>
            </a:r>
            <a:r>
              <a:rPr lang="zh-CN" altLang="en-US" dirty="0"/>
              <a:t>为电</a:t>
            </a:r>
            <a:r>
              <a:rPr lang="en-US" altLang="zh-CN" dirty="0"/>
              <a:t>-</a:t>
            </a:r>
            <a:r>
              <a:rPr lang="zh-CN" altLang="en-US" dirty="0"/>
              <a:t>碳联合市场下多虚拟电厂优化调度策略。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E6B841-4729-1586-2C19-4A1CF89C0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412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规定免费初始碳配额，建立阶梯型碳奖惩机制，碳配额随</a:t>
            </a:r>
            <a:r>
              <a:rPr lang="en-US" altLang="zh-CN" b="1" dirty="0"/>
              <a:t>VPP</a:t>
            </a:r>
            <a:r>
              <a:rPr lang="zh-CN" altLang="en-US" b="1" dirty="0"/>
              <a:t>的能量交易转移共享，将实际参与碳交易市场的碳交易额为作为系统的环境成本。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476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云储能在充放电过程中实际上就是碳转移的过程，其云储能需求响应计算流程如图所示。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636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通过碳排放因子，向用户侧传递实时碳排放信号，引导其主动调整用电模式，从而间接优化发电侧的碳排放强度。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332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电碳联合市场双层响应先完成碳核算，通过碳时移和碳空移实现电碳成本优化。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4916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虚拟电厂电</a:t>
            </a:r>
            <a:r>
              <a:rPr lang="en-US" altLang="zh-CN" dirty="0"/>
              <a:t>-</a:t>
            </a:r>
            <a:r>
              <a:rPr lang="zh-CN" altLang="en-US" dirty="0"/>
              <a:t>碳联合交易优化模型的总体目标为总成本最小。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1795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电</a:t>
            </a:r>
            <a:r>
              <a:rPr lang="en-US" altLang="zh-CN" dirty="0"/>
              <a:t>-</a:t>
            </a:r>
            <a:r>
              <a:rPr lang="zh-CN" altLang="en-US" dirty="0"/>
              <a:t>碳共享的分布式迭代过程。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1077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电</a:t>
            </a:r>
            <a:r>
              <a:rPr lang="en-US" altLang="zh-CN" dirty="0"/>
              <a:t>-</a:t>
            </a:r>
            <a:r>
              <a:rPr lang="zh-CN" altLang="en-US" dirty="0"/>
              <a:t>碳共享的分布式迭代过程。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965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基于动态碳排放因子的时空分布特性，可有效实现电力需求的时空转移，优化用能曲线以降低用户碳排放。通过不断跌代，这个值会不断趋近于零，成本也就达到了最优的成本。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081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优化调度结果分析。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6267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本章在第三章基础上，扩大</a:t>
            </a:r>
            <a:r>
              <a:rPr lang="en-US" altLang="zh-CN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范围。仿真验证，累计迭代了</a:t>
            </a:r>
            <a:r>
              <a:rPr lang="en-US" altLang="zh-CN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61</a:t>
            </a: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次，说明本文所提算法具有较好的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可扩展性</a:t>
            </a: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收敛性</a:t>
            </a:r>
            <a:r>
              <a:rPr lang="zh-CN" altLang="en-US" sz="12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018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最后，对本文所作的工作进行总结。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对后续研究工作进行展望。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3425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我在攻读硕士期间以本人一作发表学术论文一篇；导师一作，本人二作的身份发表学术论文一篇；与同门合作论文三篇，作为主要参与者完成国网项目三项，也多次获得校级奖学金和荣誉称号。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2331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谢谢各位老师！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5E652-0FE1-4A17-B02D-BB6472ECDD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48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513"/>
            <a:ext cx="6858000" cy="1790147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0695"/>
            <a:ext cx="6858000" cy="124143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09" indent="0" algn="ctr">
              <a:buNone/>
              <a:defRPr sz="1500"/>
            </a:lvl2pPr>
            <a:lvl3pPr marL="685617" indent="0" algn="ctr">
              <a:buNone/>
              <a:defRPr sz="1350"/>
            </a:lvl3pPr>
            <a:lvl4pPr marL="1028426" indent="0" algn="ctr">
              <a:buNone/>
              <a:defRPr sz="1200"/>
            </a:lvl4pPr>
            <a:lvl5pPr marL="1371234" indent="0" algn="ctr">
              <a:buNone/>
              <a:defRPr sz="1200"/>
            </a:lvl5pPr>
            <a:lvl6pPr marL="1714043" indent="0" algn="ctr">
              <a:buNone/>
              <a:defRPr sz="1200"/>
            </a:lvl6pPr>
            <a:lvl7pPr marL="2056851" indent="0" algn="ctr">
              <a:buNone/>
              <a:defRPr sz="1200"/>
            </a:lvl7pPr>
            <a:lvl8pPr marL="2399660" indent="0" algn="ctr">
              <a:buNone/>
              <a:defRPr sz="1200"/>
            </a:lvl8pPr>
            <a:lvl9pPr marL="2742468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FC4CA-CD59-E9D4-7D7F-B16B0EA4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44260-9AF3-44A9-BF02-1ECF007CEF56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776280-E3C0-345B-2C64-ECB7EFF8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D6114-6689-4724-A3FD-21DFEE3C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9BC2-C7AD-44ED-9028-2A08295A3F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8597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3FE65-6529-AE00-B30A-3F461A0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3E12-C56E-4CB3-A0C3-52C8F9A370F4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0FC78-B9AF-D4F2-D6E0-27066DD1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1EFA8-F99E-7DC4-E705-A796CA24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29C24-0BDD-44D1-982C-CB5E8944E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70638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1908"/>
            <a:ext cx="7886700" cy="213889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036"/>
            <a:ext cx="7886700" cy="112479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2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0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8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46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546B5-3FC7-4F28-D534-198ADE46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B3010-4BA1-4BCE-B93F-1445B94E7A9F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A53200-3362-33E1-5543-A988E3C7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D2A905-22D3-0F1A-AC5C-1E1B7000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7AF53-2A37-4D6C-96B5-5A45A8C9DB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76256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FBD61F7-D326-E58A-B987-E8CEE327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03A40-C40C-41EA-AD65-7BCB5071D9D5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9F0AC57-3766-ED06-4D43-4CDE9F6B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E7DD0B8-F28A-3A5E-1B6B-CB4342F8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2E38D-30DC-47A1-8597-6364E5A978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15405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759"/>
            <a:ext cx="7886700" cy="9938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483"/>
            <a:ext cx="3868340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227"/>
            <a:ext cx="3868340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83"/>
            <a:ext cx="3887391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227"/>
            <a:ext cx="3887391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F9929B61-96AF-26A7-5B17-CD35FEA8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AC45B-543F-4AEF-A3EE-B2870EA7E8D3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3CA6EC42-7E40-5F65-F4B8-04268F1D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C7D2766-9862-0C37-E443-42250D1A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9A99-BDD0-4555-9495-B4CD86F544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6928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52CC90C-3518-C860-962C-72FEB1FF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483D0-95E5-41B7-AE82-1873CCA99350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ECF55B-AE3A-A515-D1AF-E056D5C7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954BB76-A0B0-CACF-C840-D7E5298E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C6DBD-D533-4B37-B320-9BAECA3007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12575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29D6A7-0749-6797-1713-CE2E79CC0DAE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DCA8F-3547-DD6E-F4DD-00700AAC9BC6}"/>
              </a:ext>
            </a:extLst>
          </p:cNvPr>
          <p:cNvSpPr/>
          <p:nvPr userDrawn="1"/>
        </p:nvSpPr>
        <p:spPr>
          <a:xfrm>
            <a:off x="0" y="891503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FF7C20E2-47C8-0CD9-A366-FF805B0CC2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ADA2ADC6-10AC-C12F-491F-24099B6453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21387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235CCC96-A9D4-7BD5-A994-F2BB5D036F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7852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53ECEFF3-228D-44FC-E1C4-08167F6A6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35295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797749F8-4851-26F6-321A-78AAE26EE1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92308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5D33B003-A94D-6702-82D4-4732853A97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4884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370F15-49EB-89CC-CBFC-23A506D060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178355"/>
            <a:ext cx="1197769" cy="9121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74C817E8-D074-1FC5-E815-E277C5A014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2FB2419-C1B3-0ED5-9058-E7D672B3AB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FCA78C88-5CD9-4B4A-8732-93DC9D8D60E9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13D42CAB-E5FE-C9AC-142D-962A5A2B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171D4-1618-4375-8105-E5B789F13082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F2456FBA-BFC6-3ECB-DEE7-174DB5BE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FDD9165E-7D56-7C8B-B71D-C8265397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C5B1F-F986-4F0C-A8C9-5C9F6DE85C32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01266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B001C9-4130-EA7C-B0E2-8F3DB2029F8A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B251C3-E221-D735-E604-536D9E3F2828}"/>
              </a:ext>
            </a:extLst>
          </p:cNvPr>
          <p:cNvSpPr/>
          <p:nvPr userDrawn="1"/>
        </p:nvSpPr>
        <p:spPr>
          <a:xfrm>
            <a:off x="0" y="135927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FDE5FC5A-185E-A98C-B42B-3CE36E0B54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0AE000B8-6074-0F05-DEE1-C4F2A2DC2C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75914732-C43C-85FA-EBE2-ADF8B57DD7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60071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22F451B8-68E4-B5EA-CF55-95B32067FB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16846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439FF67F-F927-0B24-1124-4A40DFCADE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5FDF23E0-106F-EB07-3FF0-2215E75A0E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D4DCC7-AE1A-3A90-15CF-EE0107BFA52B}"/>
              </a:ext>
            </a:extLst>
          </p:cNvPr>
          <p:cNvSpPr txBox="1"/>
          <p:nvPr userDrawn="1"/>
        </p:nvSpPr>
        <p:spPr>
          <a:xfrm>
            <a:off x="58341" y="1735395"/>
            <a:ext cx="1331119" cy="49199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课题现状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发展趋势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F82E5D-27F2-4BF8-2A6F-D75430DA6B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8786F120-22F8-44F3-B762-3B6259D6ABFA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E7AB46BD-2215-452D-7712-33ABBBFB06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9A9C5C35-278C-193F-B1A9-9ECBFD110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ED04C-1308-4AC3-B96A-097F0F93B36B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EFBBC8C5-737F-2B33-6416-148B479F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9D1BEA34-1029-112B-1297-3BBE9600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53EC6-7F78-4635-9BA8-64512DB651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16821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C77163-B248-44F0-1E19-7E1722575903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8A7495-24D8-FB10-A4A0-C88B523C6855}"/>
              </a:ext>
            </a:extLst>
          </p:cNvPr>
          <p:cNvSpPr/>
          <p:nvPr userDrawn="1"/>
        </p:nvSpPr>
        <p:spPr>
          <a:xfrm>
            <a:off x="0" y="176515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5BB57D2A-6ADA-E52F-4467-AD452D2087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2961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FFFCE427-0731-1CF1-731C-49CE7A3B13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33904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D97B8A92-B728-E81E-F9D0-1E0EFA5870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848471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AD46EA3F-55EE-0499-F845-0E4C5995E2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10657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1672F10C-83FA-58A8-4EC7-1144F881A3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67789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9778E9E7-7F05-DEE7-57F5-CCE5FB67DA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24326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0727A2-5112-AC76-DCFC-2547652AD509}"/>
              </a:ext>
            </a:extLst>
          </p:cNvPr>
          <p:cNvSpPr txBox="1"/>
          <p:nvPr userDrawn="1"/>
        </p:nvSpPr>
        <p:spPr>
          <a:xfrm>
            <a:off x="66675" y="2186503"/>
            <a:ext cx="1046560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研究思路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研究过程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7E882E-2CE4-2B91-10B3-BCB244806B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DB245569-5793-4282-BFF3-AE1102F0ECC4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D5CB6005-DD5E-64F7-A6C0-820A4050B2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7CD596CE-7077-7CC9-CEA9-729E85AF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50311-BAF2-4B2D-86E9-3CF167D34909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AC6EFA6-C052-412C-B3F6-785BF4AD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5444238F-F1FF-5B53-2528-8E811D39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F570D-B23A-41A3-93A6-EF6CBA09DE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585180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006B6F-CBD4-8AB4-CF24-FC68682275D1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FFFA6E-FDFA-61E1-3DE1-461A66F73EC0}"/>
              </a:ext>
            </a:extLst>
          </p:cNvPr>
          <p:cNvSpPr/>
          <p:nvPr userDrawn="1"/>
        </p:nvSpPr>
        <p:spPr>
          <a:xfrm>
            <a:off x="0" y="241622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E3466A81-CF26-13AC-4F7A-8E865ABB65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503C091F-D026-C1A7-57FA-295C9E2261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B8B89CB5-3252-D0CB-F2A7-459CB98A3B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07C69D39-82F7-000D-97D4-5E9A0A389F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4E4FB9D9-FCFC-88E0-891B-80B7928398F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EFA464DA-5552-F3C0-FD93-47B1B03553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49AEB7-1284-55D2-AFD1-EE6827702572}"/>
              </a:ext>
            </a:extLst>
          </p:cNvPr>
          <p:cNvSpPr txBox="1"/>
          <p:nvPr userDrawn="1"/>
        </p:nvSpPr>
        <p:spPr>
          <a:xfrm>
            <a:off x="66675" y="2650704"/>
            <a:ext cx="960835" cy="175233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数据获取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数据分析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提出问题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主要结论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C8E244-0B73-7B0C-A9C7-AB27B7D6B0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8E1639B1-23F6-470F-BD1A-C276529E7965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E8953F3B-193E-1B79-8629-B1FE02AB19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34F8B9B4-6DB2-5A36-BFB3-FAFF004C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3D3BF-0A8A-4EE9-A2F0-CCCFDECF99D2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59BAC7AF-2704-376B-8736-8E0C1FF9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A212115F-C912-026A-D1E4-8222B7F8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1E8EF-E866-4382-B81E-337765C729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68502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62FBC8-77F8-8D2E-3C80-128F27D97F2A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19A7F-7583-971A-55E9-0CD7AB55D16C}"/>
              </a:ext>
            </a:extLst>
          </p:cNvPr>
          <p:cNvSpPr/>
          <p:nvPr userDrawn="1"/>
        </p:nvSpPr>
        <p:spPr>
          <a:xfrm>
            <a:off x="0" y="287923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8553C918-31F2-85EE-A349-DBFA91BA27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E05E6C22-97E4-E9D8-2E62-7D5A3E86F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6726F822-CEA7-7FDF-134E-89CF213691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0CBC9D02-13EB-D0C9-54A6-578B8D0085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C31E8CC8-2765-7E54-4A08-EE34F12D3E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9280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E3B68989-F543-659F-1E78-8E2F6E5658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42C245-F0F4-DA11-2B86-67DDCA41BC40}"/>
              </a:ext>
            </a:extLst>
          </p:cNvPr>
          <p:cNvSpPr txBox="1"/>
          <p:nvPr userDrawn="1"/>
        </p:nvSpPr>
        <p:spPr>
          <a:xfrm>
            <a:off x="66675" y="3305346"/>
            <a:ext cx="1119188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解决方案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优势与不足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改进措施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AF7BD-EA46-1EC4-E9DE-183D347BEB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CCBFCBAE-9230-4ABF-8554-BAA16877CE9A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F847E4E3-3D46-A0BB-1FC9-EB61C29859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539C1398-7516-7B31-4AF0-DC8DE268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D35F-2719-4BA6-A8A0-B64CBDF14788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6D237E83-3F4A-423A-06D5-1042CF34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01489792-5B1E-811D-4B76-460804FE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454C3-9C2A-4997-928C-07B227EDDF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0836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2C95990-3842-427C-C988-644A40C139F5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25F1FA-F479-5E33-457C-8BB106AFFEE2}"/>
              </a:ext>
            </a:extLst>
          </p:cNvPr>
          <p:cNvSpPr/>
          <p:nvPr userDrawn="1"/>
        </p:nvSpPr>
        <p:spPr>
          <a:xfrm>
            <a:off x="0" y="3322009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7EB314A7-FD69-88AC-A62A-8A7607A358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507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A207B299-5BF0-F78E-51A1-C0A15C2CF9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450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2D934FBE-ED54-C4DA-D5FF-0193E6F120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3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3F494073-F35B-7AB6-2F71-EDB3287487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2455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559861CD-EF91-FBEA-4EC4-DCF4E3AFE8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93279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6F69191F-2627-C16A-0B90-153BA769A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43984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6E508B-6E96-0E44-974F-7B4EE75CBF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69092763-3473-4C61-A19E-9799CE8E0AE4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1E3AD8EA-CBA8-4F02-D24C-FC1736747E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E541C1C1-DB2C-5530-A55F-F2A17708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3D929-1FD1-4D44-9E07-1688E079ED1A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F6370936-FE3C-72DF-16BC-F4BEAB1C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F7986BEB-0874-8F5E-4B81-905A9409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A0B1B-6DB7-4617-8A45-59A7BAF943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66865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513"/>
            <a:ext cx="6858000" cy="1790147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0695"/>
            <a:ext cx="6858000" cy="124143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09" indent="0" algn="ctr">
              <a:buNone/>
              <a:defRPr sz="1500"/>
            </a:lvl2pPr>
            <a:lvl3pPr marL="685617" indent="0" algn="ctr">
              <a:buNone/>
              <a:defRPr sz="1350"/>
            </a:lvl3pPr>
            <a:lvl4pPr marL="1028426" indent="0" algn="ctr">
              <a:buNone/>
              <a:defRPr sz="1200"/>
            </a:lvl4pPr>
            <a:lvl5pPr marL="1371234" indent="0" algn="ctr">
              <a:buNone/>
              <a:defRPr sz="1200"/>
            </a:lvl5pPr>
            <a:lvl6pPr marL="1714043" indent="0" algn="ctr">
              <a:buNone/>
              <a:defRPr sz="1200"/>
            </a:lvl6pPr>
            <a:lvl7pPr marL="2056851" indent="0" algn="ctr">
              <a:buNone/>
              <a:defRPr sz="1200"/>
            </a:lvl7pPr>
            <a:lvl8pPr marL="2399660" indent="0" algn="ctr">
              <a:buNone/>
              <a:defRPr sz="1200"/>
            </a:lvl8pPr>
            <a:lvl9pPr marL="2742468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62413-AD7F-E3B1-9756-27656030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47738-2040-474B-93A1-AE0A25DC036A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04A86-069C-2F1D-FA1E-7E96FF2D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E0796-00E5-2F5F-CF16-38368296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1152E-CCE9-4993-9F75-165578439B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89132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6A830-132D-2E97-CA40-40DBA88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094BC-2ABB-46ED-ACA5-611ED5BDEC77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C6F18B-3105-C97F-E47B-17C0BD4F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4B287-6E7E-41C9-ED18-17EC21B0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2B5EA-DCCA-4608-B2D3-DE26606911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481402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1908"/>
            <a:ext cx="7886700" cy="213889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036"/>
            <a:ext cx="7886700" cy="112479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2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0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8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46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33F78-8584-2E88-30F7-F5325A5F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45060-DE49-4796-B987-C221624E5947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546BF-F04B-4FAF-ABAC-2E406FB4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62AFF-409C-5A3D-AF01-6111EC8F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9D5C0-F70A-4FB1-B432-40B2427F03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6734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6CA44E1-E7BD-82E9-85F4-71140E6F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21296-C7CA-4C46-8052-329556FFF20E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F2FE5CC-0DDE-C7EC-A1F8-74BD58E1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8497DE3-2786-7769-0DB7-6AEA2AB1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024E2-4948-475A-A726-4AE9751C1C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7294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759"/>
            <a:ext cx="7886700" cy="9938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483"/>
            <a:ext cx="3868340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227"/>
            <a:ext cx="3868340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83"/>
            <a:ext cx="3887391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227"/>
            <a:ext cx="3887391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EDBB0CD-5FD8-ACD3-7558-63E77829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99F93-70A9-41E2-B686-4F98CE30F43F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133D79A-1319-41FD-D4D3-556BE17A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4EAF600-0CF8-49D9-8558-6F223FAC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0117-4C2C-414D-8A5E-0D786772CD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20456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4057A66-ED0C-5E79-368C-F5092A7A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2EAFD-A9F9-474B-A2C5-3528FF43B55E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5120251-0356-0D6B-62D3-DC9B5EE5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F38AD31-EBDA-20DB-829A-E7074773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5E8F0-D866-4CE1-A00C-969B2BDD49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403923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51194F-7145-AD9E-1391-72125C913BCE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8DDA4B-8292-875D-CBB6-8258F51BB3A2}"/>
              </a:ext>
            </a:extLst>
          </p:cNvPr>
          <p:cNvSpPr/>
          <p:nvPr userDrawn="1"/>
        </p:nvSpPr>
        <p:spPr>
          <a:xfrm>
            <a:off x="0" y="891503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85D6018C-4F5E-DBAD-1F9B-41944050BA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E04F1467-8B94-7908-0644-AA4D85A9E1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21387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CFA48470-6ADA-884E-C87F-856965425C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7852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4665ADA8-67DB-A5C6-6F22-124404C07F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35295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562E37E3-BC38-FFB4-39FF-54E575C909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92308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F2302C5C-0A93-931B-4E99-268894E881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4884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5F93DD-0C4C-6DC5-CB65-6118E9A144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178355"/>
            <a:ext cx="1197769" cy="9121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3C97E2F6-2E2D-C506-0500-BA70A9CE2B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DD080C0-F491-E44A-2736-A6524CA55B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C70E7ED9-3356-4A93-BF9B-461A521CB89D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21DD3243-E9E7-111F-E532-737755D8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9A015-06C7-4D8E-9704-6A67D3654B6C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9CD75539-DC9F-CB59-7D2C-7857A752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7163144B-7FC0-CD00-A2B3-1E8F6270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B9108-F3AC-4DCF-AD6D-8FE22022A117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903060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DF1E18-EDDB-7CF6-5ACB-47062BEE57AD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459D4B-E537-47B8-52D4-3991C97EE082}"/>
              </a:ext>
            </a:extLst>
          </p:cNvPr>
          <p:cNvSpPr/>
          <p:nvPr userDrawn="1"/>
        </p:nvSpPr>
        <p:spPr>
          <a:xfrm>
            <a:off x="0" y="135927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36AAC45A-0867-11FE-CCA1-9E15A274FB5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A00FFF10-672C-ACB4-AB97-D5918D39A5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6AAFD8DF-2297-BDB9-E6C5-A5AE330257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60071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A90AACD6-CC3C-7C3C-A933-B30289EA37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16846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64D61BD8-BE67-8E8A-7F33-421A1A28C5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4D85AB64-E4C9-65C6-4544-819E7945AF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96BCB6-F2B8-FF28-1D6A-36BE82B54696}"/>
              </a:ext>
            </a:extLst>
          </p:cNvPr>
          <p:cNvSpPr txBox="1"/>
          <p:nvPr userDrawn="1"/>
        </p:nvSpPr>
        <p:spPr>
          <a:xfrm>
            <a:off x="58341" y="1735395"/>
            <a:ext cx="1331119" cy="49199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课题现状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发展趋势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567EAA-2F9D-6D27-49F3-41CBEF8647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B1FF9868-9A9D-49CE-B1DC-3EF07B6BE322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8A85A2E9-93A0-70E4-A33B-3D638BA51F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2669E623-472C-7353-E700-53A1D4E0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74970-95BE-4525-8BAB-F314722A336B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4A07B284-7E39-1171-5B97-79805816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F69EFF64-2188-94AF-0D09-054164BB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E5345-8A69-479E-8F30-ADF199B8B9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658821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24BE65-E6FC-C622-9DF8-09EF45070F89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E02656-B1C0-2339-2310-A9D76E6A382D}"/>
              </a:ext>
            </a:extLst>
          </p:cNvPr>
          <p:cNvSpPr/>
          <p:nvPr userDrawn="1"/>
        </p:nvSpPr>
        <p:spPr>
          <a:xfrm>
            <a:off x="0" y="176515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91432F96-F26E-AABF-3A8E-95EBB6B98A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2961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72997ECC-0ACE-9DA1-ECF4-FF09773FC1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33904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7767B1B8-6A86-E4E0-8FAB-281115D41C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848471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C87FF480-EDA2-21E6-BAAF-A950FDB957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10657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8B56F7CE-C439-719A-2054-4BB8B5D131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67789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C022B1CF-F2FE-0DDD-CDA2-F81154B3CE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24326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DE02B6-9B59-B8B8-0A37-A1C800DD2FF4}"/>
              </a:ext>
            </a:extLst>
          </p:cNvPr>
          <p:cNvSpPr txBox="1"/>
          <p:nvPr userDrawn="1"/>
        </p:nvSpPr>
        <p:spPr>
          <a:xfrm>
            <a:off x="66675" y="2186503"/>
            <a:ext cx="1046560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研究思路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研究过程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81E146-4A96-99A1-5978-45A2C269A35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8534222D-9C4C-43A3-8253-40B5973E5B97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04E71FC5-3051-AC2B-B452-29C8E68B4F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8AEB5B50-53F4-1502-DFB1-10FB87F7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FE9FA-C31E-42AA-9E8F-F41AD6053D66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12170217-A0D6-BD59-26D8-A782BC28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4AAC1B88-B094-0FED-A4C8-EED73A4E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A3AB-073D-4AEA-B4D3-1905E8D04D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98218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4694A7-2D97-73C6-86D1-FB84CF531F37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069B60-D679-911F-74ED-DF4F2B4DA98B}"/>
              </a:ext>
            </a:extLst>
          </p:cNvPr>
          <p:cNvSpPr/>
          <p:nvPr userDrawn="1"/>
        </p:nvSpPr>
        <p:spPr>
          <a:xfrm>
            <a:off x="0" y="241622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467C1C07-0FB8-9EF8-6A0C-090A5399AB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1EB1A105-4C11-E9DD-723E-6CBDB78F2E5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3996BA2E-D763-6553-9CEA-8D538993B0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71F54FE8-B106-26C2-3A32-0A338DBE02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92A19FCE-021C-4B1D-DFF5-39AEECC89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788DE723-194B-2F6B-F68A-8CA868401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530837-4BE6-B073-5BF4-6C1446B5265A}"/>
              </a:ext>
            </a:extLst>
          </p:cNvPr>
          <p:cNvSpPr txBox="1"/>
          <p:nvPr userDrawn="1"/>
        </p:nvSpPr>
        <p:spPr>
          <a:xfrm>
            <a:off x="66675" y="2650704"/>
            <a:ext cx="960835" cy="175233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数据获取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数据分析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提出问题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主要结论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0AE29C-415B-A616-9636-CE5836937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0C1071CA-F8C3-4C8F-AA5A-C79A25D105B4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C6F6377E-3D15-6CE3-86F4-75072EDBAD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9C5BE891-D3EE-4041-213A-0A85083F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9EE08-0CDB-4439-9F06-1528A4FD5E82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81CFA923-516A-5A82-BF53-1B6B1E73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5F6E1441-7E77-AFBE-3FC9-EEA607D8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F54BD-5C48-4BD6-9CB7-581219F6AA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66601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321387-2796-CFDE-31D5-CD6CE44B5C15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A54CF2-6DF6-B75E-0E3D-0DA84D0EBB4E}"/>
              </a:ext>
            </a:extLst>
          </p:cNvPr>
          <p:cNvSpPr/>
          <p:nvPr userDrawn="1"/>
        </p:nvSpPr>
        <p:spPr>
          <a:xfrm>
            <a:off x="0" y="287923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48A28B89-F7D8-4512-9767-DCE41A4437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DEA75F5A-6ADB-5959-370B-4591724AFE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60546E4A-123E-24F6-77BA-05AB211877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5BB91347-C0D4-C61F-4D29-B0C688BBAE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ED868B49-ED7E-44F7-770F-A05414CCB7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9280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56EB2F9E-25C0-6326-F56E-C1924AF057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62027E-2A80-BCC1-5A57-58B73E97EC05}"/>
              </a:ext>
            </a:extLst>
          </p:cNvPr>
          <p:cNvSpPr txBox="1"/>
          <p:nvPr userDrawn="1"/>
        </p:nvSpPr>
        <p:spPr>
          <a:xfrm>
            <a:off x="66675" y="3305346"/>
            <a:ext cx="1119188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解决方案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优势与不足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改进措施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35B8D2-3CBA-281F-B873-79B961DE99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DFE313E1-7136-4A49-BBA7-79DAAFA15AAC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>
            <a:extLst>
              <a:ext uri="{FF2B5EF4-FFF2-40B4-BE49-F238E27FC236}">
                <a16:creationId xmlns:a16="http://schemas.microsoft.com/office/drawing/2014/main" id="{69016214-8F50-3F2D-699A-69E5224B8B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938DCFCE-97F3-B9DE-18C7-4B8EFC6A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AF6CB-96E9-4C7D-AAB8-47D6B9817179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EC5B14D7-C0A4-CB9D-C379-78F7FEB4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75B88E66-0953-40FC-F01B-FBB72FC1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CDAEC-4B3C-40FB-BA53-29B14501A3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49877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B401E-8A1F-F78D-5B05-58B4632D682E}"/>
              </a:ext>
            </a:extLst>
          </p:cNvPr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D7496-F3B4-4B76-ED64-5B0D9A465879}"/>
              </a:ext>
            </a:extLst>
          </p:cNvPr>
          <p:cNvSpPr/>
          <p:nvPr userDrawn="1"/>
        </p:nvSpPr>
        <p:spPr>
          <a:xfrm>
            <a:off x="0" y="3322009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>
            <a:extLst>
              <a:ext uri="{FF2B5EF4-FFF2-40B4-BE49-F238E27FC236}">
                <a16:creationId xmlns:a16="http://schemas.microsoft.com/office/drawing/2014/main" id="{75A7E913-19CB-F9DC-F4C7-622F08ABA8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89507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>
            <a:extLst>
              <a:ext uri="{FF2B5EF4-FFF2-40B4-BE49-F238E27FC236}">
                <a16:creationId xmlns:a16="http://schemas.microsoft.com/office/drawing/2014/main" id="{47CD9E96-A91A-A988-875D-88EDDF965D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40450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>
            <a:extLst>
              <a:ext uri="{FF2B5EF4-FFF2-40B4-BE49-F238E27FC236}">
                <a16:creationId xmlns:a16="http://schemas.microsoft.com/office/drawing/2014/main" id="{BB987788-23A0-F213-9669-990C9B2FE0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1913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>
            <a:extLst>
              <a:ext uri="{FF2B5EF4-FFF2-40B4-BE49-F238E27FC236}">
                <a16:creationId xmlns:a16="http://schemas.microsoft.com/office/drawing/2014/main" id="{8E89EDF8-8031-B632-AF4E-7ECBE92F28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42455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>
            <a:extLst>
              <a:ext uri="{FF2B5EF4-FFF2-40B4-BE49-F238E27FC236}">
                <a16:creationId xmlns:a16="http://schemas.microsoft.com/office/drawing/2014/main" id="{81F493D9-394E-0B5B-B0DB-D6D84161CD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293279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>
            <a:extLst>
              <a:ext uri="{FF2B5EF4-FFF2-40B4-BE49-F238E27FC236}">
                <a16:creationId xmlns:a16="http://schemas.microsoft.com/office/drawing/2014/main" id="{B08D5E2F-6700-42B3-0BBA-CBA4C9D26F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75" y="343984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参考文献部分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F559B3-8BD0-1048-E7C0-9F039F55F8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1D95D68B-3B91-4BEA-83F3-D0242F8E78AF}" type="slidenum">
              <a:rPr lang="zh-CN" altLang="en-US" sz="1350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1F9D347E-17F5-FB76-49AA-C237A881B8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724B581A-33A0-8E6B-B269-59EB1425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2A6F9-D82F-4002-995C-EDFA2EB4D55D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D01DCCEB-4B80-9DE3-3B05-1ECBA134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E7BB84F0-D07B-DA30-DE54-70B89011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FC099-5AE0-4842-88AF-486B1CEFCA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177055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4420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97572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698748"/>
            <a:ext cx="9144000" cy="4443165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914626" y="0"/>
                </a:moveTo>
                <a:lnTo>
                  <a:pt x="96081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6844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828801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2743427" y="0"/>
                </a:moveTo>
                <a:lnTo>
                  <a:pt x="278961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269724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365378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4568406" y="0"/>
                </a:moveTo>
                <a:lnTo>
                  <a:pt x="461459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452222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5472113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6386739" y="0"/>
                </a:moveTo>
                <a:lnTo>
                  <a:pt x="6432923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6340555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310121" y="0"/>
            <a:ext cx="1833879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8224747" y="0"/>
                </a:moveTo>
                <a:lnTo>
                  <a:pt x="827093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17856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513"/>
            <a:ext cx="6858000" cy="1790147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0695"/>
            <a:ext cx="6858000" cy="124143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09" indent="0" algn="ctr">
              <a:buNone/>
              <a:defRPr sz="1500"/>
            </a:lvl2pPr>
            <a:lvl3pPr marL="685617" indent="0" algn="ctr">
              <a:buNone/>
              <a:defRPr sz="1350"/>
            </a:lvl3pPr>
            <a:lvl4pPr marL="1028426" indent="0" algn="ctr">
              <a:buNone/>
              <a:defRPr sz="1200"/>
            </a:lvl4pPr>
            <a:lvl5pPr marL="1371234" indent="0" algn="ctr">
              <a:buNone/>
              <a:defRPr sz="1200"/>
            </a:lvl5pPr>
            <a:lvl6pPr marL="1714043" indent="0" algn="ctr">
              <a:buNone/>
              <a:defRPr sz="1200"/>
            </a:lvl6pPr>
            <a:lvl7pPr marL="2056851" indent="0" algn="ctr">
              <a:buNone/>
              <a:defRPr sz="1200"/>
            </a:lvl7pPr>
            <a:lvl8pPr marL="2399660" indent="0" algn="ctr">
              <a:buNone/>
              <a:defRPr sz="1200"/>
            </a:lvl8pPr>
            <a:lvl9pPr marL="2742468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866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50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1908"/>
            <a:ext cx="7886700" cy="213889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036"/>
            <a:ext cx="7886700" cy="112479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2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0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8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46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496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330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759"/>
            <a:ext cx="7886700" cy="9938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483"/>
            <a:ext cx="3868340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227"/>
            <a:ext cx="3868340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83"/>
            <a:ext cx="3887391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09" indent="0">
              <a:buNone/>
              <a:defRPr sz="1500" b="1"/>
            </a:lvl2pPr>
            <a:lvl3pPr marL="685617" indent="0">
              <a:buNone/>
              <a:defRPr sz="1350" b="1"/>
            </a:lvl3pPr>
            <a:lvl4pPr marL="1028426" indent="0">
              <a:buNone/>
              <a:defRPr sz="1200" b="1"/>
            </a:lvl4pPr>
            <a:lvl5pPr marL="1371234" indent="0">
              <a:buNone/>
              <a:defRPr sz="1200" b="1"/>
            </a:lvl5pPr>
            <a:lvl6pPr marL="1714043" indent="0">
              <a:buNone/>
              <a:defRPr sz="1200" b="1"/>
            </a:lvl6pPr>
            <a:lvl7pPr marL="2056851" indent="0">
              <a:buNone/>
              <a:defRPr sz="1200" b="1"/>
            </a:lvl7pPr>
            <a:lvl8pPr marL="2399660" indent="0">
              <a:buNone/>
              <a:defRPr sz="1200" b="1"/>
            </a:lvl8pPr>
            <a:lvl9pPr marL="2742468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227"/>
            <a:ext cx="3887391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870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983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6051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794"/>
            <a:ext cx="2949178" cy="119978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341"/>
            <a:ext cx="4629150" cy="3654091"/>
          </a:xfrm>
        </p:spPr>
        <p:txBody>
          <a:bodyPr/>
          <a:lstStyle>
            <a:lvl1pPr>
              <a:defRPr sz="2399"/>
            </a:lvl1pPr>
            <a:lvl2pPr>
              <a:defRPr sz="2099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2574"/>
            <a:ext cx="2949178" cy="2857809"/>
          </a:xfrm>
        </p:spPr>
        <p:txBody>
          <a:bodyPr/>
          <a:lstStyle>
            <a:lvl1pPr marL="0" indent="0">
              <a:buNone/>
              <a:defRPr sz="1200"/>
            </a:lvl1pPr>
            <a:lvl2pPr marL="342809" indent="0">
              <a:buNone/>
              <a:defRPr sz="1050"/>
            </a:lvl2pPr>
            <a:lvl3pPr marL="685617" indent="0">
              <a:buNone/>
              <a:defRPr sz="900"/>
            </a:lvl3pPr>
            <a:lvl4pPr marL="1028426" indent="0">
              <a:buNone/>
              <a:defRPr sz="750"/>
            </a:lvl4pPr>
            <a:lvl5pPr marL="1371234" indent="0">
              <a:buNone/>
              <a:defRPr sz="750"/>
            </a:lvl5pPr>
            <a:lvl6pPr marL="1714043" indent="0">
              <a:buNone/>
              <a:defRPr sz="750"/>
            </a:lvl6pPr>
            <a:lvl7pPr marL="2056851" indent="0">
              <a:buNone/>
              <a:defRPr sz="750"/>
            </a:lvl7pPr>
            <a:lvl8pPr marL="2399660" indent="0">
              <a:buNone/>
              <a:defRPr sz="750"/>
            </a:lvl8pPr>
            <a:lvl9pPr marL="2742468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653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794"/>
            <a:ext cx="2949178" cy="119978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341"/>
            <a:ext cx="4629150" cy="3654091"/>
          </a:xfrm>
        </p:spPr>
        <p:txBody>
          <a:bodyPr anchor="t"/>
          <a:lstStyle>
            <a:lvl1pPr marL="0" indent="0">
              <a:buNone/>
              <a:defRPr sz="2399"/>
            </a:lvl1pPr>
            <a:lvl2pPr marL="342809" indent="0">
              <a:buNone/>
              <a:defRPr sz="2099"/>
            </a:lvl2pPr>
            <a:lvl3pPr marL="685617" indent="0">
              <a:buNone/>
              <a:defRPr sz="1800"/>
            </a:lvl3pPr>
            <a:lvl4pPr marL="1028426" indent="0">
              <a:buNone/>
              <a:defRPr sz="1500"/>
            </a:lvl4pPr>
            <a:lvl5pPr marL="1371234" indent="0">
              <a:buNone/>
              <a:defRPr sz="1500"/>
            </a:lvl5pPr>
            <a:lvl6pPr marL="1714043" indent="0">
              <a:buNone/>
              <a:defRPr sz="1500"/>
            </a:lvl6pPr>
            <a:lvl7pPr marL="2056851" indent="0">
              <a:buNone/>
              <a:defRPr sz="1500"/>
            </a:lvl7pPr>
            <a:lvl8pPr marL="2399660" indent="0">
              <a:buNone/>
              <a:defRPr sz="1500"/>
            </a:lvl8pPr>
            <a:lvl9pPr marL="2742468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2574"/>
            <a:ext cx="2949178" cy="2857809"/>
          </a:xfrm>
        </p:spPr>
        <p:txBody>
          <a:bodyPr/>
          <a:lstStyle>
            <a:lvl1pPr marL="0" indent="0">
              <a:buNone/>
              <a:defRPr sz="1200"/>
            </a:lvl1pPr>
            <a:lvl2pPr marL="342809" indent="0">
              <a:buNone/>
              <a:defRPr sz="1050"/>
            </a:lvl2pPr>
            <a:lvl3pPr marL="685617" indent="0">
              <a:buNone/>
              <a:defRPr sz="900"/>
            </a:lvl3pPr>
            <a:lvl4pPr marL="1028426" indent="0">
              <a:buNone/>
              <a:defRPr sz="750"/>
            </a:lvl4pPr>
            <a:lvl5pPr marL="1371234" indent="0">
              <a:buNone/>
              <a:defRPr sz="750"/>
            </a:lvl5pPr>
            <a:lvl6pPr marL="1714043" indent="0">
              <a:buNone/>
              <a:defRPr sz="750"/>
            </a:lvl6pPr>
            <a:lvl7pPr marL="2056851" indent="0">
              <a:buNone/>
              <a:defRPr sz="750"/>
            </a:lvl7pPr>
            <a:lvl8pPr marL="2399660" indent="0">
              <a:buNone/>
              <a:defRPr sz="750"/>
            </a:lvl8pPr>
            <a:lvl9pPr marL="2742468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998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185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759"/>
            <a:ext cx="1971675" cy="43575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759"/>
            <a:ext cx="5800725" cy="435753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1847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51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6277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066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698748"/>
            <a:ext cx="9144000" cy="4443165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914626" y="0"/>
                </a:moveTo>
                <a:lnTo>
                  <a:pt x="96081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6844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035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828801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2743427" y="0"/>
                </a:moveTo>
                <a:lnTo>
                  <a:pt x="278961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269724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63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365378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4568406" y="0"/>
                </a:moveTo>
                <a:lnTo>
                  <a:pt x="461459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452222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828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5472113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6386739" y="0"/>
                </a:moveTo>
                <a:lnTo>
                  <a:pt x="6432923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6340555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8624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310121" y="0"/>
            <a:ext cx="1833879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8224747" y="0"/>
                </a:moveTo>
                <a:lnTo>
                  <a:pt x="827093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17856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03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21CD9F2-7416-0567-0003-AB081AE41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3759"/>
            <a:ext cx="7886700" cy="9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3F8B84DC-07D3-3A19-5702-53C07AADE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68796"/>
            <a:ext cx="7886700" cy="326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8E86E6-B885-501F-593B-4E49430F8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094012-9FAE-4DFA-BAFF-DA809B3F0B67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AC03F-6BED-8AE5-CB7C-51B4E6A4D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5792"/>
            <a:ext cx="30861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4F2C8-B0EB-1E2B-613B-628BAF989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129D01E-65A4-4DB9-8F19-1391E9BBA1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3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342809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685617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028426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371234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04" indent="-171404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213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21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30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2639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447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56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064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873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9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17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26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34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43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851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468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88F08DBE-6E7F-DD3D-00F8-A3FB0ACD8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3759"/>
            <a:ext cx="7886700" cy="9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2FCC740F-86FE-9732-3609-F22029E9F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68796"/>
            <a:ext cx="7886700" cy="326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C26617-E8E1-AFD4-BC67-B53F3CAB1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714F99F-E97F-49F4-914D-5110E8A771BA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46448E-1311-AD24-9781-B6919D848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5792"/>
            <a:ext cx="30861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ABB608-FC2A-F609-DA6E-B76A1D787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587B6D-EB0F-4353-BF45-0E6D8A3938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5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342809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685617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028426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371234" algn="l" rtl="0" fontAlgn="base">
        <a:lnSpc>
          <a:spcPct val="90000"/>
        </a:lnSpc>
        <a:spcBef>
          <a:spcPct val="0"/>
        </a:spcBef>
        <a:spcAft>
          <a:spcPct val="0"/>
        </a:spcAft>
        <a:defRPr sz="3299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04" indent="-171404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213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21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30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2639" indent="-171404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447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56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064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873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9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17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26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34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43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851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468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759"/>
            <a:ext cx="7886700" cy="99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8796"/>
            <a:ext cx="7886700" cy="3262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5792"/>
            <a:ext cx="30861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</p:sldLayoutIdLst>
  <p:txStyles>
    <p:titleStyle>
      <a:lvl1pPr algn="l" defTabSz="685617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04" indent="-171404" algn="l" defTabSz="6856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213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21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30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639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447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56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064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873" indent="-171404" algn="l" defTabSz="6856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9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17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26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34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043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851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0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468" algn="l" defTabSz="6856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21.emf"/><Relationship Id="rId26" Type="http://schemas.openxmlformats.org/officeDocument/2006/relationships/image" Target="../media/image25.emf"/><Relationship Id="rId3" Type="http://schemas.openxmlformats.org/officeDocument/2006/relationships/notesSlide" Target="../notesSlides/notesSlide10.xml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8.emf"/><Relationship Id="rId17" Type="http://schemas.openxmlformats.org/officeDocument/2006/relationships/oleObject" Target="../embeddings/oleObject7.bin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20.emf"/><Relationship Id="rId20" Type="http://schemas.openxmlformats.org/officeDocument/2006/relationships/image" Target="../media/image22.emf"/><Relationship Id="rId29" Type="http://schemas.openxmlformats.org/officeDocument/2006/relationships/oleObject" Target="../embeddings/oleObject13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24.emf"/><Relationship Id="rId32" Type="http://schemas.openxmlformats.org/officeDocument/2006/relationships/image" Target="../media/image28.emf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26.emf"/><Relationship Id="rId10" Type="http://schemas.openxmlformats.org/officeDocument/2006/relationships/image" Target="../media/image17.emf"/><Relationship Id="rId19" Type="http://schemas.openxmlformats.org/officeDocument/2006/relationships/oleObject" Target="../embeddings/oleObject8.bin"/><Relationship Id="rId31" Type="http://schemas.openxmlformats.org/officeDocument/2006/relationships/oleObject" Target="../embeddings/oleObject14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9.emf"/><Relationship Id="rId22" Type="http://schemas.openxmlformats.org/officeDocument/2006/relationships/image" Target="../media/image23.emf"/><Relationship Id="rId27" Type="http://schemas.openxmlformats.org/officeDocument/2006/relationships/oleObject" Target="../embeddings/oleObject12.bin"/><Relationship Id="rId30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5.emf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37.emf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34.emf"/><Relationship Id="rId20" Type="http://schemas.openxmlformats.org/officeDocument/2006/relationships/image" Target="../media/image36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31.e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3.emf"/><Relationship Id="rId22" Type="http://schemas.openxmlformats.org/officeDocument/2006/relationships/image" Target="../media/image3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package" Target="../embeddings/Microsoft_Visio_Drawing2.vsdx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4.emf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emf"/><Relationship Id="rId11" Type="http://schemas.openxmlformats.org/officeDocument/2006/relationships/package" Target="../embeddings/Microsoft_Visio_Drawing1.vsdx"/><Relationship Id="rId5" Type="http://schemas.openxmlformats.org/officeDocument/2006/relationships/image" Target="../media/image42.emf"/><Relationship Id="rId15" Type="http://schemas.openxmlformats.org/officeDocument/2006/relationships/image" Target="../media/image46.emf"/><Relationship Id="rId10" Type="http://schemas.openxmlformats.org/officeDocument/2006/relationships/image" Target="../media/image39.emf"/><Relationship Id="rId4" Type="http://schemas.openxmlformats.org/officeDocument/2006/relationships/image" Target="../media/image3.png"/><Relationship Id="rId9" Type="http://schemas.openxmlformats.org/officeDocument/2006/relationships/package" Target="../embeddings/Microsoft_Visio_Drawing.vsdx"/><Relationship Id="rId14" Type="http://schemas.openxmlformats.org/officeDocument/2006/relationships/image" Target="../media/image4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49.emf"/><Relationship Id="rId4" Type="http://schemas.openxmlformats.org/officeDocument/2006/relationships/image" Target="../media/image3.png"/><Relationship Id="rId9" Type="http://schemas.openxmlformats.org/officeDocument/2006/relationships/image" Target="../media/image4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58.emf"/><Relationship Id="rId26" Type="http://schemas.openxmlformats.org/officeDocument/2006/relationships/image" Target="../media/image62.wmf"/><Relationship Id="rId3" Type="http://schemas.openxmlformats.org/officeDocument/2006/relationships/notesSlide" Target="../notesSlides/notesSlide16.xml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55.e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57.emf"/><Relationship Id="rId20" Type="http://schemas.openxmlformats.org/officeDocument/2006/relationships/image" Target="../media/image59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61.e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56.emf"/><Relationship Id="rId22" Type="http://schemas.openxmlformats.org/officeDocument/2006/relationships/image" Target="../media/image6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63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64.emf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72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10" Type="http://schemas.openxmlformats.org/officeDocument/2006/relationships/image" Target="../media/image69.emf"/><Relationship Id="rId4" Type="http://schemas.openxmlformats.org/officeDocument/2006/relationships/image" Target="../media/image3.png"/><Relationship Id="rId9" Type="http://schemas.openxmlformats.org/officeDocument/2006/relationships/package" Target="../embeddings/Microsoft_Visio_Drawing3.vsd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notesSlide" Target="../notesSlides/notesSlide22.xml"/><Relationship Id="rId7" Type="http://schemas.openxmlformats.org/officeDocument/2006/relationships/package" Target="../embeddings/Microsoft_Visio_Drawing5.vsdx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4.emf"/><Relationship Id="rId5" Type="http://schemas.openxmlformats.org/officeDocument/2006/relationships/package" Target="../embeddings/Microsoft_Visio_Drawing4.vsdx"/><Relationship Id="rId4" Type="http://schemas.openxmlformats.org/officeDocument/2006/relationships/image" Target="../media/image3.png"/><Relationship Id="rId9" Type="http://schemas.openxmlformats.org/officeDocument/2006/relationships/image" Target="../media/image7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8.emf"/><Relationship Id="rId4" Type="http://schemas.openxmlformats.org/officeDocument/2006/relationships/image" Target="../media/image7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41.bin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84.emf"/><Relationship Id="rId10" Type="http://schemas.openxmlformats.org/officeDocument/2006/relationships/image" Target="../media/image81.e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8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87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89.emf"/><Relationship Id="rId4" Type="http://schemas.openxmlformats.org/officeDocument/2006/relationships/image" Target="../media/image3.png"/><Relationship Id="rId9" Type="http://schemas.openxmlformats.org/officeDocument/2006/relationships/image" Target="../media/image8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98.emf"/><Relationship Id="rId26" Type="http://schemas.openxmlformats.org/officeDocument/2006/relationships/image" Target="../media/image102.emf"/><Relationship Id="rId3" Type="http://schemas.openxmlformats.org/officeDocument/2006/relationships/notesSlide" Target="../notesSlides/notesSlide29.xml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97.emf"/><Relationship Id="rId20" Type="http://schemas.openxmlformats.org/officeDocument/2006/relationships/image" Target="../media/image99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101.e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103.emf"/><Relationship Id="rId10" Type="http://schemas.openxmlformats.org/officeDocument/2006/relationships/image" Target="../media/image94.e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96.emf"/><Relationship Id="rId22" Type="http://schemas.openxmlformats.org/officeDocument/2006/relationships/image" Target="../media/image100.emf"/><Relationship Id="rId27" Type="http://schemas.openxmlformats.org/officeDocument/2006/relationships/oleObject" Target="../embeddings/oleObject5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110.emf"/><Relationship Id="rId3" Type="http://schemas.openxmlformats.org/officeDocument/2006/relationships/notesSlide" Target="../notesSlides/notesSlide30.xml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07.e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09.emf"/><Relationship Id="rId20" Type="http://schemas.openxmlformats.org/officeDocument/2006/relationships/image" Target="../media/image111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113.e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106.e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108.emf"/><Relationship Id="rId22" Type="http://schemas.openxmlformats.org/officeDocument/2006/relationships/image" Target="../media/image11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notesSlide" Target="../notesSlides/notesSlide31.xml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3.png"/><Relationship Id="rId9" Type="http://schemas.openxmlformats.org/officeDocument/2006/relationships/image" Target="../media/image11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4" Type="http://schemas.openxmlformats.org/officeDocument/2006/relationships/image" Target="../media/image11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3.emf"/><Relationship Id="rId4" Type="http://schemas.openxmlformats.org/officeDocument/2006/relationships/image" Target="../media/image12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CCDB23-28FE-4DCB-9727-5441B0511029}"/>
              </a:ext>
            </a:extLst>
          </p:cNvPr>
          <p:cNvSpPr/>
          <p:nvPr/>
        </p:nvSpPr>
        <p:spPr>
          <a:xfrm>
            <a:off x="891699" y="908221"/>
            <a:ext cx="7355840" cy="381642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845" y="1708150"/>
            <a:ext cx="7331075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基于双重博弈的多虚拟电厂</a:t>
            </a:r>
            <a:r>
              <a:rPr lang="en-US" altLang="zh-CN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</a:t>
            </a:r>
            <a:endParaRPr lang="en-US" altLang="zh-CN" sz="3200" b="1" dirty="0">
              <a:ln w="6350"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多目标低碳协同优化</a:t>
            </a:r>
          </a:p>
        </p:txBody>
      </p:sp>
      <p:pic>
        <p:nvPicPr>
          <p:cNvPr id="19" name="Picture 2" descr="C:\Users\YY\Desktop\1e104821e5dde711554d5b53a7efce1b9c16617b.jpg">
            <a:extLst>
              <a:ext uri="{FF2B5EF4-FFF2-40B4-BE49-F238E27FC236}">
                <a16:creationId xmlns:a16="http://schemas.microsoft.com/office/drawing/2014/main" id="{7A3B5EB5-9FD2-4EA1-A262-D74DC554E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575" y="457588"/>
            <a:ext cx="2448272" cy="90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6">
            <a:extLst>
              <a:ext uri="{FF2B5EF4-FFF2-40B4-BE49-F238E27FC236}">
                <a16:creationId xmlns:a16="http://schemas.microsoft.com/office/drawing/2014/main" id="{663C8CA2-2E80-43E1-9EB8-0506944F9F20}"/>
              </a:ext>
            </a:extLst>
          </p:cNvPr>
          <p:cNvSpPr txBox="1"/>
          <p:nvPr/>
        </p:nvSpPr>
        <p:spPr>
          <a:xfrm>
            <a:off x="3438445" y="2981871"/>
            <a:ext cx="229187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姓  名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    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冯俊博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学  号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    2270992</a:t>
            </a: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专  业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   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电气工程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导  师： 刘鑫蕊 教授</a:t>
            </a:r>
          </a:p>
        </p:txBody>
      </p:sp>
    </p:spTree>
  </p:cSld>
  <p:clrMapOvr>
    <a:masterClrMapping/>
  </p:clrMapOvr>
  <p:transition spd="slow" advTm="406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00EF6BA5-C0F4-41DF-89F4-59AB299978DC}"/>
              </a:ext>
            </a:extLst>
          </p:cNvPr>
          <p:cNvSpPr/>
          <p:nvPr/>
        </p:nvSpPr>
        <p:spPr>
          <a:xfrm>
            <a:off x="1125331" y="1171857"/>
            <a:ext cx="6675647" cy="504056"/>
          </a:xfrm>
          <a:prstGeom prst="round2Diag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FE9826D-7C79-AB74-D080-19F5D715BE3E}"/>
              </a:ext>
            </a:extLst>
          </p:cNvPr>
          <p:cNvGrpSpPr/>
          <p:nvPr/>
        </p:nvGrpSpPr>
        <p:grpSpPr>
          <a:xfrm>
            <a:off x="7497387" y="1146221"/>
            <a:ext cx="576065" cy="589289"/>
            <a:chOff x="7161535" y="1727558"/>
            <a:chExt cx="504056" cy="504056"/>
          </a:xfrm>
        </p:grpSpPr>
        <p:sp>
          <p:nvSpPr>
            <p:cNvPr id="3" name="流程图: 接点 2">
              <a:extLst>
                <a:ext uri="{FF2B5EF4-FFF2-40B4-BE49-F238E27FC236}">
                  <a16:creationId xmlns:a16="http://schemas.microsoft.com/office/drawing/2014/main" id="{2AF7F6D3-2AD7-44A6-8924-291ABBD55B8A}"/>
                </a:ext>
              </a:extLst>
            </p:cNvPr>
            <p:cNvSpPr/>
            <p:nvPr/>
          </p:nvSpPr>
          <p:spPr>
            <a:xfrm>
              <a:off x="7161535" y="1727558"/>
              <a:ext cx="504056" cy="504056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58C28753-707B-4C1C-9C36-0578552DB5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39048" y="1834657"/>
              <a:ext cx="349030" cy="289858"/>
            </a:xfrm>
            <a:custGeom>
              <a:avLst/>
              <a:gdLst>
                <a:gd name="T0" fmla="*/ 111 w 197"/>
                <a:gd name="T1" fmla="*/ 11 h 164"/>
                <a:gd name="T2" fmla="*/ 0 w 197"/>
                <a:gd name="T3" fmla="*/ 15 h 164"/>
                <a:gd name="T4" fmla="*/ 105 w 197"/>
                <a:gd name="T5" fmla="*/ 164 h 164"/>
                <a:gd name="T6" fmla="*/ 136 w 197"/>
                <a:gd name="T7" fmla="*/ 159 h 164"/>
                <a:gd name="T8" fmla="*/ 196 w 197"/>
                <a:gd name="T9" fmla="*/ 142 h 164"/>
                <a:gd name="T10" fmla="*/ 52 w 197"/>
                <a:gd name="T11" fmla="*/ 150 h 164"/>
                <a:gd name="T12" fmla="*/ 52 w 197"/>
                <a:gd name="T13" fmla="*/ 22 h 164"/>
                <a:gd name="T14" fmla="*/ 99 w 197"/>
                <a:gd name="T15" fmla="*/ 150 h 164"/>
                <a:gd name="T16" fmla="*/ 99 w 197"/>
                <a:gd name="T17" fmla="*/ 22 h 164"/>
                <a:gd name="T18" fmla="*/ 147 w 197"/>
                <a:gd name="T19" fmla="*/ 149 h 164"/>
                <a:gd name="T20" fmla="*/ 181 w 197"/>
                <a:gd name="T21" fmla="*/ 139 h 164"/>
                <a:gd name="T22" fmla="*/ 23 w 197"/>
                <a:gd name="T23" fmla="*/ 133 h 164"/>
                <a:gd name="T24" fmla="*/ 42 w 197"/>
                <a:gd name="T25" fmla="*/ 134 h 164"/>
                <a:gd name="T26" fmla="*/ 43 w 197"/>
                <a:gd name="T27" fmla="*/ 114 h 164"/>
                <a:gd name="T28" fmla="*/ 23 w 197"/>
                <a:gd name="T29" fmla="*/ 114 h 164"/>
                <a:gd name="T30" fmla="*/ 29 w 197"/>
                <a:gd name="T31" fmla="*/ 120 h 164"/>
                <a:gd name="T32" fmla="*/ 37 w 197"/>
                <a:gd name="T33" fmla="*/ 120 h 164"/>
                <a:gd name="T34" fmla="*/ 37 w 197"/>
                <a:gd name="T35" fmla="*/ 128 h 164"/>
                <a:gd name="T36" fmla="*/ 29 w 197"/>
                <a:gd name="T37" fmla="*/ 127 h 164"/>
                <a:gd name="T38" fmla="*/ 32 w 197"/>
                <a:gd name="T39" fmla="*/ 91 h 164"/>
                <a:gd name="T40" fmla="*/ 36 w 197"/>
                <a:gd name="T41" fmla="*/ 38 h 164"/>
                <a:gd name="T42" fmla="*/ 28 w 197"/>
                <a:gd name="T43" fmla="*/ 87 h 164"/>
                <a:gd name="T44" fmla="*/ 134 w 197"/>
                <a:gd name="T45" fmla="*/ 31 h 164"/>
                <a:gd name="T46" fmla="*/ 149 w 197"/>
                <a:gd name="T47" fmla="*/ 86 h 164"/>
                <a:gd name="T48" fmla="*/ 134 w 197"/>
                <a:gd name="T49" fmla="*/ 31 h 164"/>
                <a:gd name="T50" fmla="*/ 69 w 197"/>
                <a:gd name="T51" fmla="*/ 133 h 164"/>
                <a:gd name="T52" fmla="*/ 88 w 197"/>
                <a:gd name="T53" fmla="*/ 133 h 164"/>
                <a:gd name="T54" fmla="*/ 79 w 197"/>
                <a:gd name="T55" fmla="*/ 110 h 164"/>
                <a:gd name="T56" fmla="*/ 65 w 197"/>
                <a:gd name="T57" fmla="*/ 124 h 164"/>
                <a:gd name="T58" fmla="*/ 75 w 197"/>
                <a:gd name="T59" fmla="*/ 120 h 164"/>
                <a:gd name="T60" fmla="*/ 82 w 197"/>
                <a:gd name="T61" fmla="*/ 120 h 164"/>
                <a:gd name="T62" fmla="*/ 82 w 197"/>
                <a:gd name="T63" fmla="*/ 128 h 164"/>
                <a:gd name="T64" fmla="*/ 74 w 197"/>
                <a:gd name="T65" fmla="*/ 127 h 164"/>
                <a:gd name="T66" fmla="*/ 81 w 197"/>
                <a:gd name="T67" fmla="*/ 91 h 164"/>
                <a:gd name="T68" fmla="*/ 85 w 197"/>
                <a:gd name="T69" fmla="*/ 38 h 164"/>
                <a:gd name="T70" fmla="*/ 77 w 197"/>
                <a:gd name="T71" fmla="*/ 87 h 164"/>
                <a:gd name="T72" fmla="*/ 148 w 197"/>
                <a:gd name="T73" fmla="*/ 109 h 164"/>
                <a:gd name="T74" fmla="*/ 148 w 197"/>
                <a:gd name="T75" fmla="*/ 128 h 164"/>
                <a:gd name="T76" fmla="*/ 167 w 197"/>
                <a:gd name="T77" fmla="*/ 128 h 164"/>
                <a:gd name="T78" fmla="*/ 168 w 197"/>
                <a:gd name="T79" fmla="*/ 109 h 164"/>
                <a:gd name="T80" fmla="*/ 158 w 197"/>
                <a:gd name="T81" fmla="*/ 105 h 164"/>
                <a:gd name="T82" fmla="*/ 154 w 197"/>
                <a:gd name="T83" fmla="*/ 114 h 164"/>
                <a:gd name="T84" fmla="*/ 163 w 197"/>
                <a:gd name="T85" fmla="*/ 118 h 164"/>
                <a:gd name="T86" fmla="*/ 154 w 197"/>
                <a:gd name="T87" fmla="*/ 122 h 164"/>
                <a:gd name="T88" fmla="*/ 154 w 197"/>
                <a:gd name="T89" fmla="*/ 11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7" h="164">
                  <a:moveTo>
                    <a:pt x="159" y="6"/>
                  </a:moveTo>
                  <a:cubicBezTo>
                    <a:pt x="158" y="2"/>
                    <a:pt x="155" y="0"/>
                    <a:pt x="151" y="1"/>
                  </a:cubicBezTo>
                  <a:cubicBezTo>
                    <a:pt x="111" y="11"/>
                    <a:pt x="111" y="11"/>
                    <a:pt x="111" y="11"/>
                  </a:cubicBezTo>
                  <a:cubicBezTo>
                    <a:pt x="110" y="10"/>
                    <a:pt x="108" y="8"/>
                    <a:pt x="105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3" y="8"/>
                    <a:pt x="0" y="11"/>
                    <a:pt x="0" y="15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61"/>
                    <a:pt x="3" y="164"/>
                    <a:pt x="7" y="164"/>
                  </a:cubicBezTo>
                  <a:cubicBezTo>
                    <a:pt x="105" y="164"/>
                    <a:pt x="105" y="164"/>
                    <a:pt x="105" y="164"/>
                  </a:cubicBezTo>
                  <a:cubicBezTo>
                    <a:pt x="109" y="164"/>
                    <a:pt x="112" y="161"/>
                    <a:pt x="112" y="157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36" y="159"/>
                    <a:pt x="136" y="159"/>
                    <a:pt x="136" y="159"/>
                  </a:cubicBezTo>
                  <a:cubicBezTo>
                    <a:pt x="136" y="162"/>
                    <a:pt x="140" y="164"/>
                    <a:pt x="144" y="163"/>
                  </a:cubicBezTo>
                  <a:cubicBezTo>
                    <a:pt x="191" y="151"/>
                    <a:pt x="191" y="151"/>
                    <a:pt x="191" y="151"/>
                  </a:cubicBezTo>
                  <a:cubicBezTo>
                    <a:pt x="195" y="150"/>
                    <a:pt x="197" y="146"/>
                    <a:pt x="196" y="142"/>
                  </a:cubicBezTo>
                  <a:cubicBezTo>
                    <a:pt x="159" y="6"/>
                    <a:pt x="159" y="6"/>
                    <a:pt x="159" y="6"/>
                  </a:cubicBezTo>
                  <a:close/>
                  <a:moveTo>
                    <a:pt x="52" y="150"/>
                  </a:moveTo>
                  <a:cubicBezTo>
                    <a:pt x="52" y="150"/>
                    <a:pt x="52" y="150"/>
                    <a:pt x="52" y="150"/>
                  </a:cubicBezTo>
                  <a:cubicBezTo>
                    <a:pt x="14" y="150"/>
                    <a:pt x="14" y="150"/>
                    <a:pt x="14" y="150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150"/>
                    <a:pt x="52" y="150"/>
                    <a:pt x="52" y="150"/>
                  </a:cubicBezTo>
                  <a:close/>
                  <a:moveTo>
                    <a:pt x="99" y="150"/>
                  </a:moveTo>
                  <a:cubicBezTo>
                    <a:pt x="99" y="150"/>
                    <a:pt x="99" y="150"/>
                    <a:pt x="99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9" y="150"/>
                    <a:pt x="99" y="150"/>
                    <a:pt x="99" y="150"/>
                  </a:cubicBezTo>
                  <a:close/>
                  <a:moveTo>
                    <a:pt x="147" y="149"/>
                  </a:moveTo>
                  <a:cubicBezTo>
                    <a:pt x="147" y="149"/>
                    <a:pt x="147" y="149"/>
                    <a:pt x="147" y="149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48" y="16"/>
                    <a:pt x="148" y="16"/>
                    <a:pt x="148" y="16"/>
                  </a:cubicBezTo>
                  <a:cubicBezTo>
                    <a:pt x="181" y="139"/>
                    <a:pt x="181" y="139"/>
                    <a:pt x="181" y="139"/>
                  </a:cubicBezTo>
                  <a:cubicBezTo>
                    <a:pt x="147" y="149"/>
                    <a:pt x="147" y="149"/>
                    <a:pt x="147" y="149"/>
                  </a:cubicBezTo>
                  <a:close/>
                  <a:moveTo>
                    <a:pt x="23" y="133"/>
                  </a:moveTo>
                  <a:cubicBezTo>
                    <a:pt x="23" y="133"/>
                    <a:pt x="23" y="133"/>
                    <a:pt x="23" y="133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6" y="136"/>
                    <a:pt x="29" y="137"/>
                    <a:pt x="33" y="137"/>
                  </a:cubicBezTo>
                  <a:cubicBezTo>
                    <a:pt x="37" y="137"/>
                    <a:pt x="40" y="136"/>
                    <a:pt x="42" y="134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5" y="131"/>
                    <a:pt x="47" y="127"/>
                    <a:pt x="47" y="124"/>
                  </a:cubicBezTo>
                  <a:cubicBezTo>
                    <a:pt x="47" y="120"/>
                    <a:pt x="45" y="116"/>
                    <a:pt x="43" y="114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0" y="112"/>
                    <a:pt x="37" y="110"/>
                    <a:pt x="33" y="110"/>
                  </a:cubicBezTo>
                  <a:cubicBezTo>
                    <a:pt x="29" y="110"/>
                    <a:pt x="26" y="112"/>
                    <a:pt x="23" y="114"/>
                  </a:cubicBezTo>
                  <a:cubicBezTo>
                    <a:pt x="21" y="116"/>
                    <a:pt x="19" y="120"/>
                    <a:pt x="19" y="124"/>
                  </a:cubicBezTo>
                  <a:cubicBezTo>
                    <a:pt x="19" y="127"/>
                    <a:pt x="21" y="131"/>
                    <a:pt x="23" y="133"/>
                  </a:cubicBezTo>
                  <a:close/>
                  <a:moveTo>
                    <a:pt x="29" y="120"/>
                  </a:moveTo>
                  <a:cubicBezTo>
                    <a:pt x="29" y="120"/>
                    <a:pt x="29" y="120"/>
                    <a:pt x="29" y="120"/>
                  </a:cubicBezTo>
                  <a:cubicBezTo>
                    <a:pt x="30" y="119"/>
                    <a:pt x="31" y="118"/>
                    <a:pt x="33" y="118"/>
                  </a:cubicBezTo>
                  <a:cubicBezTo>
                    <a:pt x="34" y="118"/>
                    <a:pt x="36" y="119"/>
                    <a:pt x="37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8" y="121"/>
                    <a:pt x="38" y="122"/>
                    <a:pt x="38" y="124"/>
                  </a:cubicBezTo>
                  <a:cubicBezTo>
                    <a:pt x="38" y="125"/>
                    <a:pt x="38" y="127"/>
                    <a:pt x="37" y="128"/>
                  </a:cubicBezTo>
                  <a:cubicBezTo>
                    <a:pt x="36" y="129"/>
                    <a:pt x="34" y="129"/>
                    <a:pt x="33" y="129"/>
                  </a:cubicBezTo>
                  <a:cubicBezTo>
                    <a:pt x="31" y="129"/>
                    <a:pt x="30" y="129"/>
                    <a:pt x="29" y="128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8" y="126"/>
                    <a:pt x="27" y="125"/>
                    <a:pt x="27" y="124"/>
                  </a:cubicBezTo>
                  <a:cubicBezTo>
                    <a:pt x="27" y="122"/>
                    <a:pt x="28" y="121"/>
                    <a:pt x="29" y="120"/>
                  </a:cubicBezTo>
                  <a:close/>
                  <a:moveTo>
                    <a:pt x="32" y="91"/>
                  </a:moveTo>
                  <a:cubicBezTo>
                    <a:pt x="32" y="91"/>
                    <a:pt x="32" y="91"/>
                    <a:pt x="32" y="91"/>
                  </a:cubicBezTo>
                  <a:cubicBezTo>
                    <a:pt x="34" y="91"/>
                    <a:pt x="36" y="89"/>
                    <a:pt x="36" y="8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5"/>
                    <a:pt x="34" y="34"/>
                    <a:pt x="32" y="34"/>
                  </a:cubicBezTo>
                  <a:cubicBezTo>
                    <a:pt x="29" y="34"/>
                    <a:pt x="28" y="35"/>
                    <a:pt x="28" y="38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9"/>
                    <a:pt x="29" y="91"/>
                    <a:pt x="32" y="91"/>
                  </a:cubicBezTo>
                  <a:close/>
                  <a:moveTo>
                    <a:pt x="134" y="31"/>
                  </a:moveTo>
                  <a:cubicBezTo>
                    <a:pt x="134" y="31"/>
                    <a:pt x="134" y="31"/>
                    <a:pt x="134" y="31"/>
                  </a:cubicBezTo>
                  <a:cubicBezTo>
                    <a:pt x="132" y="32"/>
                    <a:pt x="131" y="34"/>
                    <a:pt x="131" y="36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4" y="86"/>
                    <a:pt x="146" y="87"/>
                    <a:pt x="149" y="86"/>
                  </a:cubicBezTo>
                  <a:cubicBezTo>
                    <a:pt x="151" y="86"/>
                    <a:pt x="152" y="84"/>
                    <a:pt x="152" y="82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38" y="32"/>
                    <a:pt x="136" y="31"/>
                    <a:pt x="134" y="31"/>
                  </a:cubicBezTo>
                  <a:close/>
                  <a:moveTo>
                    <a:pt x="69" y="133"/>
                  </a:moveTo>
                  <a:cubicBezTo>
                    <a:pt x="69" y="133"/>
                    <a:pt x="69" y="133"/>
                    <a:pt x="69" y="133"/>
                  </a:cubicBezTo>
                  <a:cubicBezTo>
                    <a:pt x="69" y="133"/>
                    <a:pt x="69" y="133"/>
                    <a:pt x="69" y="133"/>
                  </a:cubicBezTo>
                  <a:cubicBezTo>
                    <a:pt x="71" y="136"/>
                    <a:pt x="75" y="137"/>
                    <a:pt x="79" y="137"/>
                  </a:cubicBezTo>
                  <a:cubicBezTo>
                    <a:pt x="82" y="137"/>
                    <a:pt x="86" y="136"/>
                    <a:pt x="88" y="134"/>
                  </a:cubicBezTo>
                  <a:cubicBezTo>
                    <a:pt x="88" y="133"/>
                    <a:pt x="88" y="133"/>
                    <a:pt x="88" y="133"/>
                  </a:cubicBezTo>
                  <a:cubicBezTo>
                    <a:pt x="91" y="131"/>
                    <a:pt x="92" y="127"/>
                    <a:pt x="92" y="124"/>
                  </a:cubicBezTo>
                  <a:cubicBezTo>
                    <a:pt x="92" y="120"/>
                    <a:pt x="91" y="116"/>
                    <a:pt x="88" y="114"/>
                  </a:cubicBezTo>
                  <a:cubicBezTo>
                    <a:pt x="86" y="112"/>
                    <a:pt x="82" y="110"/>
                    <a:pt x="79" y="110"/>
                  </a:cubicBezTo>
                  <a:cubicBezTo>
                    <a:pt x="75" y="110"/>
                    <a:pt x="71" y="112"/>
                    <a:pt x="69" y="114"/>
                  </a:cubicBezTo>
                  <a:cubicBezTo>
                    <a:pt x="69" y="114"/>
                    <a:pt x="69" y="114"/>
                    <a:pt x="69" y="114"/>
                  </a:cubicBezTo>
                  <a:cubicBezTo>
                    <a:pt x="66" y="116"/>
                    <a:pt x="65" y="120"/>
                    <a:pt x="65" y="124"/>
                  </a:cubicBezTo>
                  <a:cubicBezTo>
                    <a:pt x="65" y="127"/>
                    <a:pt x="66" y="131"/>
                    <a:pt x="69" y="133"/>
                  </a:cubicBezTo>
                  <a:close/>
                  <a:moveTo>
                    <a:pt x="75" y="120"/>
                  </a:moveTo>
                  <a:cubicBezTo>
                    <a:pt x="75" y="120"/>
                    <a:pt x="75" y="120"/>
                    <a:pt x="75" y="120"/>
                  </a:cubicBezTo>
                  <a:cubicBezTo>
                    <a:pt x="76" y="119"/>
                    <a:pt x="77" y="118"/>
                    <a:pt x="79" y="118"/>
                  </a:cubicBezTo>
                  <a:cubicBezTo>
                    <a:pt x="80" y="118"/>
                    <a:pt x="81" y="119"/>
                    <a:pt x="82" y="120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4" y="121"/>
                    <a:pt x="84" y="122"/>
                    <a:pt x="84" y="124"/>
                  </a:cubicBezTo>
                  <a:cubicBezTo>
                    <a:pt x="84" y="125"/>
                    <a:pt x="84" y="127"/>
                    <a:pt x="83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1" y="129"/>
                    <a:pt x="80" y="129"/>
                    <a:pt x="79" y="129"/>
                  </a:cubicBezTo>
                  <a:cubicBezTo>
                    <a:pt x="77" y="129"/>
                    <a:pt x="76" y="129"/>
                    <a:pt x="75" y="128"/>
                  </a:cubicBezTo>
                  <a:cubicBezTo>
                    <a:pt x="74" y="127"/>
                    <a:pt x="74" y="127"/>
                    <a:pt x="74" y="127"/>
                  </a:cubicBezTo>
                  <a:cubicBezTo>
                    <a:pt x="74" y="126"/>
                    <a:pt x="73" y="125"/>
                    <a:pt x="73" y="124"/>
                  </a:cubicBezTo>
                  <a:cubicBezTo>
                    <a:pt x="73" y="122"/>
                    <a:pt x="74" y="121"/>
                    <a:pt x="75" y="120"/>
                  </a:cubicBezTo>
                  <a:close/>
                  <a:moveTo>
                    <a:pt x="81" y="91"/>
                  </a:moveTo>
                  <a:cubicBezTo>
                    <a:pt x="81" y="91"/>
                    <a:pt x="81" y="91"/>
                    <a:pt x="81" y="91"/>
                  </a:cubicBezTo>
                  <a:cubicBezTo>
                    <a:pt x="83" y="91"/>
                    <a:pt x="85" y="89"/>
                    <a:pt x="85" y="87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35"/>
                    <a:pt x="83" y="34"/>
                    <a:pt x="81" y="34"/>
                  </a:cubicBezTo>
                  <a:cubicBezTo>
                    <a:pt x="79" y="34"/>
                    <a:pt x="77" y="35"/>
                    <a:pt x="77" y="3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9"/>
                    <a:pt x="79" y="91"/>
                    <a:pt x="81" y="91"/>
                  </a:cubicBezTo>
                  <a:close/>
                  <a:moveTo>
                    <a:pt x="148" y="109"/>
                  </a:moveTo>
                  <a:cubicBezTo>
                    <a:pt x="148" y="109"/>
                    <a:pt x="148" y="109"/>
                    <a:pt x="148" y="109"/>
                  </a:cubicBezTo>
                  <a:cubicBezTo>
                    <a:pt x="146" y="111"/>
                    <a:pt x="144" y="114"/>
                    <a:pt x="144" y="118"/>
                  </a:cubicBezTo>
                  <a:cubicBezTo>
                    <a:pt x="144" y="122"/>
                    <a:pt x="146" y="125"/>
                    <a:pt x="148" y="128"/>
                  </a:cubicBezTo>
                  <a:cubicBezTo>
                    <a:pt x="148" y="128"/>
                    <a:pt x="148" y="128"/>
                    <a:pt x="148" y="128"/>
                  </a:cubicBezTo>
                  <a:cubicBezTo>
                    <a:pt x="151" y="130"/>
                    <a:pt x="154" y="132"/>
                    <a:pt x="158" y="132"/>
                  </a:cubicBezTo>
                  <a:cubicBezTo>
                    <a:pt x="161" y="132"/>
                    <a:pt x="165" y="131"/>
                    <a:pt x="167" y="128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70" y="126"/>
                    <a:pt x="171" y="122"/>
                    <a:pt x="171" y="118"/>
                  </a:cubicBezTo>
                  <a:cubicBezTo>
                    <a:pt x="171" y="114"/>
                    <a:pt x="170" y="111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5" y="106"/>
                    <a:pt x="162" y="105"/>
                    <a:pt x="158" y="105"/>
                  </a:cubicBezTo>
                  <a:cubicBezTo>
                    <a:pt x="154" y="105"/>
                    <a:pt x="151" y="106"/>
                    <a:pt x="148" y="109"/>
                  </a:cubicBezTo>
                  <a:close/>
                  <a:moveTo>
                    <a:pt x="154" y="114"/>
                  </a:moveTo>
                  <a:cubicBezTo>
                    <a:pt x="154" y="114"/>
                    <a:pt x="154" y="114"/>
                    <a:pt x="154" y="114"/>
                  </a:cubicBezTo>
                  <a:cubicBezTo>
                    <a:pt x="155" y="113"/>
                    <a:pt x="156" y="113"/>
                    <a:pt x="158" y="113"/>
                  </a:cubicBezTo>
                  <a:cubicBezTo>
                    <a:pt x="159" y="113"/>
                    <a:pt x="161" y="113"/>
                    <a:pt x="162" y="114"/>
                  </a:cubicBezTo>
                  <a:cubicBezTo>
                    <a:pt x="163" y="115"/>
                    <a:pt x="163" y="117"/>
                    <a:pt x="163" y="118"/>
                  </a:cubicBezTo>
                  <a:cubicBezTo>
                    <a:pt x="163" y="120"/>
                    <a:pt x="163" y="121"/>
                    <a:pt x="162" y="122"/>
                  </a:cubicBezTo>
                  <a:cubicBezTo>
                    <a:pt x="161" y="123"/>
                    <a:pt x="159" y="124"/>
                    <a:pt x="158" y="124"/>
                  </a:cubicBezTo>
                  <a:cubicBezTo>
                    <a:pt x="156" y="124"/>
                    <a:pt x="155" y="123"/>
                    <a:pt x="154" y="122"/>
                  </a:cubicBezTo>
                  <a:cubicBezTo>
                    <a:pt x="154" y="122"/>
                    <a:pt x="154" y="122"/>
                    <a:pt x="154" y="122"/>
                  </a:cubicBezTo>
                  <a:cubicBezTo>
                    <a:pt x="153" y="121"/>
                    <a:pt x="152" y="120"/>
                    <a:pt x="152" y="118"/>
                  </a:cubicBezTo>
                  <a:cubicBezTo>
                    <a:pt x="152" y="117"/>
                    <a:pt x="153" y="115"/>
                    <a:pt x="154" y="1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9439561-954C-4765-A99D-DA4EEAF3F718}"/>
              </a:ext>
            </a:extLst>
          </p:cNvPr>
          <p:cNvSpPr txBox="1"/>
          <p:nvPr/>
        </p:nvSpPr>
        <p:spPr>
          <a:xfrm>
            <a:off x="3886154" y="1213384"/>
            <a:ext cx="708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8A51DF9-73F0-7C7B-9C77-055435F1B03C}"/>
              </a:ext>
            </a:extLst>
          </p:cNvPr>
          <p:cNvGrpSpPr/>
          <p:nvPr/>
        </p:nvGrpSpPr>
        <p:grpSpPr>
          <a:xfrm>
            <a:off x="1125331" y="1849422"/>
            <a:ext cx="6938405" cy="589289"/>
            <a:chOff x="980146" y="1865185"/>
            <a:chExt cx="6938405" cy="589289"/>
          </a:xfrm>
        </p:grpSpPr>
        <p:sp>
          <p:nvSpPr>
            <p:cNvPr id="12" name="矩形: 对角圆角 11">
              <a:extLst>
                <a:ext uri="{FF2B5EF4-FFF2-40B4-BE49-F238E27FC236}">
                  <a16:creationId xmlns:a16="http://schemas.microsoft.com/office/drawing/2014/main" id="{606B54C6-B735-4A7B-957D-8156747393ED}"/>
                </a:ext>
              </a:extLst>
            </p:cNvPr>
            <p:cNvSpPr/>
            <p:nvPr/>
          </p:nvSpPr>
          <p:spPr>
            <a:xfrm>
              <a:off x="980146" y="1915232"/>
              <a:ext cx="6685363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7C14F1-09BE-4848-89A2-B645E9CC1DC7}"/>
                </a:ext>
              </a:extLst>
            </p:cNvPr>
            <p:cNvSpPr txBox="1"/>
            <p:nvPr/>
          </p:nvSpPr>
          <p:spPr>
            <a:xfrm>
              <a:off x="1792976" y="1956333"/>
              <a:ext cx="4785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分布式资源建模与多虚拟电厂分布式优化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D55BF5F-8166-5379-A4EA-D99BD5B8F6F7}"/>
                </a:ext>
              </a:extLst>
            </p:cNvPr>
            <p:cNvGrpSpPr/>
            <p:nvPr/>
          </p:nvGrpSpPr>
          <p:grpSpPr>
            <a:xfrm>
              <a:off x="7342486" y="1865185"/>
              <a:ext cx="576065" cy="589289"/>
              <a:chOff x="5076056" y="2775079"/>
              <a:chExt cx="504056" cy="504056"/>
            </a:xfrm>
          </p:grpSpPr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54F9C846-EEB9-40F0-8F4F-E9E715E61BC7}"/>
                  </a:ext>
                </a:extLst>
              </p:cNvPr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Freeform 9">
                <a:extLst>
                  <a:ext uri="{FF2B5EF4-FFF2-40B4-BE49-F238E27FC236}">
                    <a16:creationId xmlns:a16="http://schemas.microsoft.com/office/drawing/2014/main" id="{64817579-1EE5-47E3-A96D-AB2B9739B3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5" name="TextBox 37">
            <a:extLst>
              <a:ext uri="{FF2B5EF4-FFF2-40B4-BE49-F238E27FC236}">
                <a16:creationId xmlns:a16="http://schemas.microsoft.com/office/drawing/2014/main" id="{33103CDC-B64A-4ADC-AC5D-3F9A61F5F812}"/>
              </a:ext>
            </a:extLst>
          </p:cNvPr>
          <p:cNvSpPr txBox="1"/>
          <p:nvPr/>
        </p:nvSpPr>
        <p:spPr>
          <a:xfrm>
            <a:off x="3351604" y="148605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n w="6350">
                  <a:noFill/>
                </a:ln>
                <a:solidFill>
                  <a:srgbClr val="0070C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目   录</a:t>
            </a:r>
            <a:endParaRPr lang="en-US" altLang="zh-CN" sz="4000" b="1" dirty="0">
              <a:ln w="6350">
                <a:noFill/>
              </a:ln>
              <a:solidFill>
                <a:srgbClr val="0070C0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1721"/>
            <a:ext cx="3026962" cy="607205"/>
          </a:xfrm>
          <a:prstGeom prst="rect">
            <a:avLst/>
          </a:prstGeom>
        </p:spPr>
      </p:pic>
      <p:grpSp>
        <p:nvGrpSpPr>
          <p:cNvPr id="71" name="组合 70">
            <a:extLst>
              <a:ext uri="{FF2B5EF4-FFF2-40B4-BE49-F238E27FC236}">
                <a16:creationId xmlns:a16="http://schemas.microsoft.com/office/drawing/2014/main" id="{1FF439C2-278A-88A8-C8AF-58D76B3658DD}"/>
              </a:ext>
            </a:extLst>
          </p:cNvPr>
          <p:cNvGrpSpPr/>
          <p:nvPr/>
        </p:nvGrpSpPr>
        <p:grpSpPr>
          <a:xfrm>
            <a:off x="1115616" y="2609697"/>
            <a:ext cx="6957836" cy="589289"/>
            <a:chOff x="961811" y="2635489"/>
            <a:chExt cx="6957836" cy="589289"/>
          </a:xfrm>
        </p:grpSpPr>
        <p:sp>
          <p:nvSpPr>
            <p:cNvPr id="16" name="矩形: 对角圆角 15">
              <a:extLst>
                <a:ext uri="{FF2B5EF4-FFF2-40B4-BE49-F238E27FC236}">
                  <a16:creationId xmlns:a16="http://schemas.microsoft.com/office/drawing/2014/main" id="{8D4496B4-B08D-470F-838E-6E62B1139C83}"/>
                </a:ext>
              </a:extLst>
            </p:cNvPr>
            <p:cNvSpPr/>
            <p:nvPr/>
          </p:nvSpPr>
          <p:spPr>
            <a:xfrm>
              <a:off x="961811" y="2673835"/>
              <a:ext cx="6703698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B1203DE-05E6-4A1A-8801-7433FFC1893B}"/>
                </a:ext>
              </a:extLst>
            </p:cNvPr>
            <p:cNvSpPr txBox="1"/>
            <p:nvPr/>
          </p:nvSpPr>
          <p:spPr>
            <a:xfrm>
              <a:off x="1971589" y="2737864"/>
              <a:ext cx="46841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多虚拟电厂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云储能的低碳混合博弈研究</a:t>
              </a: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2B63185F-977A-A152-3514-3CE9A3F2A2F6}"/>
                </a:ext>
              </a:extLst>
            </p:cNvPr>
            <p:cNvGrpSpPr/>
            <p:nvPr/>
          </p:nvGrpSpPr>
          <p:grpSpPr>
            <a:xfrm>
              <a:off x="7343582" y="2635489"/>
              <a:ext cx="576065" cy="589289"/>
              <a:chOff x="5076056" y="2775079"/>
              <a:chExt cx="504056" cy="504056"/>
            </a:xfrm>
          </p:grpSpPr>
          <p:sp>
            <p:nvSpPr>
              <p:cNvPr id="64" name="流程图: 接点 63">
                <a:extLst>
                  <a:ext uri="{FF2B5EF4-FFF2-40B4-BE49-F238E27FC236}">
                    <a16:creationId xmlns:a16="http://schemas.microsoft.com/office/drawing/2014/main" id="{BF7DD854-5641-B9CC-421D-2948848CC379}"/>
                  </a:ext>
                </a:extLst>
              </p:cNvPr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Freeform 9">
                <a:extLst>
                  <a:ext uri="{FF2B5EF4-FFF2-40B4-BE49-F238E27FC236}">
                    <a16:creationId xmlns:a16="http://schemas.microsoft.com/office/drawing/2014/main" id="{31D8AA7A-FBA7-6B6C-161C-0724D78D76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矩形: 对角圆角 60">
            <a:extLst>
              <a:ext uri="{FF2B5EF4-FFF2-40B4-BE49-F238E27FC236}">
                <a16:creationId xmlns:a16="http://schemas.microsoft.com/office/drawing/2014/main" id="{AFC24183-20B8-1710-DB00-785905ACFBCB}"/>
              </a:ext>
            </a:extLst>
          </p:cNvPr>
          <p:cNvSpPr/>
          <p:nvPr/>
        </p:nvSpPr>
        <p:spPr>
          <a:xfrm>
            <a:off x="1115616" y="4155132"/>
            <a:ext cx="6685361" cy="504056"/>
          </a:xfrm>
          <a:prstGeom prst="round2Diag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9A81D8-F73F-7540-5C52-AF07DC0BBA15}"/>
              </a:ext>
            </a:extLst>
          </p:cNvPr>
          <p:cNvSpPr txBox="1"/>
          <p:nvPr/>
        </p:nvSpPr>
        <p:spPr>
          <a:xfrm>
            <a:off x="3461480" y="4201748"/>
            <a:ext cx="156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F8D3965-8649-2612-6CDE-56DE515423BD}"/>
              </a:ext>
            </a:extLst>
          </p:cNvPr>
          <p:cNvGrpSpPr/>
          <p:nvPr/>
        </p:nvGrpSpPr>
        <p:grpSpPr>
          <a:xfrm>
            <a:off x="7477956" y="4098028"/>
            <a:ext cx="576064" cy="593665"/>
            <a:chOff x="3608149" y="3664302"/>
            <a:chExt cx="504056" cy="504056"/>
          </a:xfrm>
        </p:grpSpPr>
        <p:sp>
          <p:nvSpPr>
            <p:cNvPr id="17" name="流程图: 接点 16">
              <a:extLst>
                <a:ext uri="{FF2B5EF4-FFF2-40B4-BE49-F238E27FC236}">
                  <a16:creationId xmlns:a16="http://schemas.microsoft.com/office/drawing/2014/main" id="{2E397519-DFA8-4562-A69B-AA07DEA8E299}"/>
                </a:ext>
              </a:extLst>
            </p:cNvPr>
            <p:cNvSpPr/>
            <p:nvPr/>
          </p:nvSpPr>
          <p:spPr>
            <a:xfrm>
              <a:off x="3608149" y="3664302"/>
              <a:ext cx="504056" cy="504056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2C145CCE-257B-4D48-8076-C4B978FCCF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3333" y="3757322"/>
              <a:ext cx="214210" cy="307834"/>
            </a:xfrm>
            <a:custGeom>
              <a:avLst/>
              <a:gdLst>
                <a:gd name="T0" fmla="*/ 3 w 121"/>
                <a:gd name="T1" fmla="*/ 119 h 174"/>
                <a:gd name="T2" fmla="*/ 23 w 121"/>
                <a:gd name="T3" fmla="*/ 115 h 174"/>
                <a:gd name="T4" fmla="*/ 38 w 121"/>
                <a:gd name="T5" fmla="*/ 74 h 174"/>
                <a:gd name="T6" fmla="*/ 38 w 121"/>
                <a:gd name="T7" fmla="*/ 74 h 174"/>
                <a:gd name="T8" fmla="*/ 38 w 121"/>
                <a:gd name="T9" fmla="*/ 29 h 174"/>
                <a:gd name="T10" fmla="*/ 54 w 121"/>
                <a:gd name="T11" fmla="*/ 21 h 174"/>
                <a:gd name="T12" fmla="*/ 60 w 121"/>
                <a:gd name="T13" fmla="*/ 0 h 174"/>
                <a:gd name="T14" fmla="*/ 67 w 121"/>
                <a:gd name="T15" fmla="*/ 21 h 174"/>
                <a:gd name="T16" fmla="*/ 92 w 121"/>
                <a:gd name="T17" fmla="*/ 51 h 174"/>
                <a:gd name="T18" fmla="*/ 82 w 121"/>
                <a:gd name="T19" fmla="*/ 74 h 174"/>
                <a:gd name="T20" fmla="*/ 98 w 121"/>
                <a:gd name="T21" fmla="*/ 115 h 174"/>
                <a:gd name="T22" fmla="*/ 117 w 121"/>
                <a:gd name="T23" fmla="*/ 119 h 174"/>
                <a:gd name="T24" fmla="*/ 102 w 121"/>
                <a:gd name="T25" fmla="*/ 124 h 174"/>
                <a:gd name="T26" fmla="*/ 116 w 121"/>
                <a:gd name="T27" fmla="*/ 159 h 174"/>
                <a:gd name="T28" fmla="*/ 120 w 121"/>
                <a:gd name="T29" fmla="*/ 168 h 174"/>
                <a:gd name="T30" fmla="*/ 113 w 121"/>
                <a:gd name="T31" fmla="*/ 171 h 174"/>
                <a:gd name="T32" fmla="*/ 108 w 121"/>
                <a:gd name="T33" fmla="*/ 162 h 174"/>
                <a:gd name="T34" fmla="*/ 87 w 121"/>
                <a:gd name="T35" fmla="*/ 124 h 174"/>
                <a:gd name="T36" fmla="*/ 67 w 121"/>
                <a:gd name="T37" fmla="*/ 129 h 174"/>
                <a:gd name="T38" fmla="*/ 54 w 121"/>
                <a:gd name="T39" fmla="*/ 129 h 174"/>
                <a:gd name="T40" fmla="*/ 34 w 121"/>
                <a:gd name="T41" fmla="*/ 124 h 174"/>
                <a:gd name="T42" fmla="*/ 13 w 121"/>
                <a:gd name="T43" fmla="*/ 162 h 174"/>
                <a:gd name="T44" fmla="*/ 8 w 121"/>
                <a:gd name="T45" fmla="*/ 171 h 174"/>
                <a:gd name="T46" fmla="*/ 1 w 121"/>
                <a:gd name="T47" fmla="*/ 168 h 174"/>
                <a:gd name="T48" fmla="*/ 5 w 121"/>
                <a:gd name="T49" fmla="*/ 159 h 174"/>
                <a:gd name="T50" fmla="*/ 19 w 121"/>
                <a:gd name="T51" fmla="*/ 124 h 174"/>
                <a:gd name="T52" fmla="*/ 54 w 121"/>
                <a:gd name="T53" fmla="*/ 115 h 174"/>
                <a:gd name="T54" fmla="*/ 54 w 121"/>
                <a:gd name="T55" fmla="*/ 110 h 174"/>
                <a:gd name="T56" fmla="*/ 67 w 121"/>
                <a:gd name="T57" fmla="*/ 110 h 174"/>
                <a:gd name="T58" fmla="*/ 83 w 121"/>
                <a:gd name="T59" fmla="*/ 115 h 174"/>
                <a:gd name="T60" fmla="*/ 54 w 121"/>
                <a:gd name="T61" fmla="*/ 82 h 174"/>
                <a:gd name="T62" fmla="*/ 54 w 121"/>
                <a:gd name="T63" fmla="*/ 115 h 174"/>
                <a:gd name="T64" fmla="*/ 73 w 121"/>
                <a:gd name="T65" fmla="*/ 39 h 174"/>
                <a:gd name="T66" fmla="*/ 48 w 121"/>
                <a:gd name="T67" fmla="*/ 39 h 174"/>
                <a:gd name="T68" fmla="*/ 48 w 121"/>
                <a:gd name="T69" fmla="*/ 64 h 174"/>
                <a:gd name="T70" fmla="*/ 68 w 121"/>
                <a:gd name="T71" fmla="*/ 68 h 174"/>
                <a:gd name="T72" fmla="*/ 73 w 121"/>
                <a:gd name="T73" fmla="*/ 64 h 174"/>
                <a:gd name="T74" fmla="*/ 73 w 121"/>
                <a:gd name="T75" fmla="*/ 3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1" h="174">
                  <a:moveTo>
                    <a:pt x="8" y="124"/>
                  </a:moveTo>
                  <a:cubicBezTo>
                    <a:pt x="5" y="124"/>
                    <a:pt x="3" y="122"/>
                    <a:pt x="3" y="119"/>
                  </a:cubicBezTo>
                  <a:cubicBezTo>
                    <a:pt x="3" y="117"/>
                    <a:pt x="5" y="115"/>
                    <a:pt x="8" y="115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0" y="75"/>
                    <a:pt x="38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3" y="68"/>
                    <a:pt x="29" y="60"/>
                    <a:pt x="29" y="51"/>
                  </a:cubicBezTo>
                  <a:cubicBezTo>
                    <a:pt x="29" y="43"/>
                    <a:pt x="33" y="35"/>
                    <a:pt x="38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3" y="25"/>
                    <a:pt x="48" y="22"/>
                    <a:pt x="54" y="21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3"/>
                    <a:pt x="57" y="0"/>
                    <a:pt x="60" y="0"/>
                  </a:cubicBezTo>
                  <a:cubicBezTo>
                    <a:pt x="64" y="0"/>
                    <a:pt x="67" y="3"/>
                    <a:pt x="67" y="7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3" y="22"/>
                    <a:pt x="78" y="25"/>
                    <a:pt x="82" y="29"/>
                  </a:cubicBezTo>
                  <a:cubicBezTo>
                    <a:pt x="88" y="35"/>
                    <a:pt x="92" y="43"/>
                    <a:pt x="92" y="51"/>
                  </a:cubicBezTo>
                  <a:cubicBezTo>
                    <a:pt x="92" y="60"/>
                    <a:pt x="88" y="68"/>
                    <a:pt x="82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81" y="75"/>
                    <a:pt x="80" y="76"/>
                    <a:pt x="79" y="77"/>
                  </a:cubicBezTo>
                  <a:cubicBezTo>
                    <a:pt x="98" y="115"/>
                    <a:pt x="98" y="115"/>
                    <a:pt x="98" y="115"/>
                  </a:cubicBezTo>
                  <a:cubicBezTo>
                    <a:pt x="113" y="115"/>
                    <a:pt x="113" y="115"/>
                    <a:pt x="113" y="115"/>
                  </a:cubicBezTo>
                  <a:cubicBezTo>
                    <a:pt x="116" y="115"/>
                    <a:pt x="117" y="117"/>
                    <a:pt x="117" y="119"/>
                  </a:cubicBezTo>
                  <a:cubicBezTo>
                    <a:pt x="117" y="122"/>
                    <a:pt x="116" y="124"/>
                    <a:pt x="113" y="124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7" y="155"/>
                    <a:pt x="117" y="157"/>
                    <a:pt x="116" y="159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21" y="170"/>
                    <a:pt x="120" y="172"/>
                    <a:pt x="118" y="173"/>
                  </a:cubicBezTo>
                  <a:cubicBezTo>
                    <a:pt x="116" y="174"/>
                    <a:pt x="114" y="173"/>
                    <a:pt x="113" y="171"/>
                  </a:cubicBezTo>
                  <a:cubicBezTo>
                    <a:pt x="110" y="165"/>
                    <a:pt x="110" y="165"/>
                    <a:pt x="110" y="16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6" y="162"/>
                    <a:pt x="104" y="160"/>
                    <a:pt x="103" y="158"/>
                  </a:cubicBezTo>
                  <a:cubicBezTo>
                    <a:pt x="87" y="124"/>
                    <a:pt x="87" y="124"/>
                    <a:pt x="87" y="124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67" y="132"/>
                    <a:pt x="64" y="136"/>
                    <a:pt x="60" y="136"/>
                  </a:cubicBezTo>
                  <a:cubicBezTo>
                    <a:pt x="57" y="136"/>
                    <a:pt x="54" y="132"/>
                    <a:pt x="54" y="129"/>
                  </a:cubicBezTo>
                  <a:cubicBezTo>
                    <a:pt x="54" y="124"/>
                    <a:pt x="54" y="124"/>
                    <a:pt x="54" y="124"/>
                  </a:cubicBezTo>
                  <a:cubicBezTo>
                    <a:pt x="34" y="124"/>
                    <a:pt x="34" y="124"/>
                    <a:pt x="34" y="124"/>
                  </a:cubicBezTo>
                  <a:cubicBezTo>
                    <a:pt x="17" y="158"/>
                    <a:pt x="17" y="158"/>
                    <a:pt x="17" y="158"/>
                  </a:cubicBezTo>
                  <a:cubicBezTo>
                    <a:pt x="16" y="160"/>
                    <a:pt x="15" y="162"/>
                    <a:pt x="13" y="162"/>
                  </a:cubicBezTo>
                  <a:cubicBezTo>
                    <a:pt x="11" y="165"/>
                    <a:pt x="11" y="165"/>
                    <a:pt x="11" y="165"/>
                  </a:cubicBezTo>
                  <a:cubicBezTo>
                    <a:pt x="8" y="171"/>
                    <a:pt x="8" y="171"/>
                    <a:pt x="8" y="171"/>
                  </a:cubicBezTo>
                  <a:cubicBezTo>
                    <a:pt x="7" y="173"/>
                    <a:pt x="5" y="174"/>
                    <a:pt x="3" y="173"/>
                  </a:cubicBezTo>
                  <a:cubicBezTo>
                    <a:pt x="1" y="172"/>
                    <a:pt x="0" y="170"/>
                    <a:pt x="1" y="168"/>
                  </a:cubicBezTo>
                  <a:cubicBezTo>
                    <a:pt x="4" y="162"/>
                    <a:pt x="4" y="162"/>
                    <a:pt x="4" y="162"/>
                  </a:cubicBezTo>
                  <a:cubicBezTo>
                    <a:pt x="5" y="159"/>
                    <a:pt x="5" y="159"/>
                    <a:pt x="5" y="159"/>
                  </a:cubicBezTo>
                  <a:cubicBezTo>
                    <a:pt x="4" y="157"/>
                    <a:pt x="4" y="155"/>
                    <a:pt x="5" y="153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8" y="124"/>
                    <a:pt x="8" y="124"/>
                    <a:pt x="8" y="124"/>
                  </a:cubicBezTo>
                  <a:close/>
                  <a:moveTo>
                    <a:pt x="54" y="115"/>
                  </a:moveTo>
                  <a:cubicBezTo>
                    <a:pt x="54" y="115"/>
                    <a:pt x="54" y="115"/>
                    <a:pt x="54" y="115"/>
                  </a:cubicBezTo>
                  <a:cubicBezTo>
                    <a:pt x="54" y="110"/>
                    <a:pt x="54" y="110"/>
                    <a:pt x="54" y="110"/>
                  </a:cubicBezTo>
                  <a:cubicBezTo>
                    <a:pt x="54" y="107"/>
                    <a:pt x="57" y="103"/>
                    <a:pt x="60" y="103"/>
                  </a:cubicBezTo>
                  <a:cubicBezTo>
                    <a:pt x="64" y="103"/>
                    <a:pt x="67" y="107"/>
                    <a:pt x="67" y="110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83" y="115"/>
                    <a:pt x="83" y="115"/>
                    <a:pt x="83" y="115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3" y="83"/>
                    <a:pt x="58" y="83"/>
                    <a:pt x="54" y="82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54" y="115"/>
                    <a:pt x="54" y="115"/>
                    <a:pt x="54" y="115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66" y="32"/>
                    <a:pt x="55" y="32"/>
                    <a:pt x="48" y="39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5" y="42"/>
                    <a:pt x="43" y="47"/>
                    <a:pt x="43" y="51"/>
                  </a:cubicBezTo>
                  <a:cubicBezTo>
                    <a:pt x="43" y="56"/>
                    <a:pt x="45" y="61"/>
                    <a:pt x="48" y="64"/>
                  </a:cubicBezTo>
                  <a:cubicBezTo>
                    <a:pt x="53" y="69"/>
                    <a:pt x="61" y="71"/>
                    <a:pt x="67" y="6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9" y="67"/>
                    <a:pt x="71" y="6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76" y="61"/>
                    <a:pt x="78" y="56"/>
                    <a:pt x="78" y="51"/>
                  </a:cubicBezTo>
                  <a:cubicBezTo>
                    <a:pt x="78" y="47"/>
                    <a:pt x="76" y="42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7266F9E4-9DB0-9F8F-40CA-36FDB14289CF}"/>
              </a:ext>
            </a:extLst>
          </p:cNvPr>
          <p:cNvGrpSpPr/>
          <p:nvPr/>
        </p:nvGrpSpPr>
        <p:grpSpPr>
          <a:xfrm>
            <a:off x="1115616" y="3368555"/>
            <a:ext cx="6938404" cy="589289"/>
            <a:chOff x="980147" y="3341620"/>
            <a:chExt cx="6938404" cy="589289"/>
          </a:xfrm>
        </p:grpSpPr>
        <p:sp>
          <p:nvSpPr>
            <p:cNvPr id="56" name="矩形: 对角圆角 55">
              <a:extLst>
                <a:ext uri="{FF2B5EF4-FFF2-40B4-BE49-F238E27FC236}">
                  <a16:creationId xmlns:a16="http://schemas.microsoft.com/office/drawing/2014/main" id="{0954564C-6F3E-07EC-06E3-AABA666A60CD}"/>
                </a:ext>
              </a:extLst>
            </p:cNvPr>
            <p:cNvSpPr/>
            <p:nvPr/>
          </p:nvSpPr>
          <p:spPr>
            <a:xfrm>
              <a:off x="980147" y="3409524"/>
              <a:ext cx="6685362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4DC5845-68FF-3914-9133-10A86BEC9901}"/>
                </a:ext>
              </a:extLst>
            </p:cNvPr>
            <p:cNvSpPr txBox="1"/>
            <p:nvPr/>
          </p:nvSpPr>
          <p:spPr>
            <a:xfrm>
              <a:off x="1831272" y="3475209"/>
              <a:ext cx="5009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碳联合市场下多虚拟电厂优化调度策略</a:t>
              </a: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0008CA69-1E04-45EB-D001-360D8E8B25C5}"/>
                </a:ext>
              </a:extLst>
            </p:cNvPr>
            <p:cNvGrpSpPr/>
            <p:nvPr/>
          </p:nvGrpSpPr>
          <p:grpSpPr>
            <a:xfrm>
              <a:off x="7342486" y="3341620"/>
              <a:ext cx="576065" cy="589289"/>
              <a:chOff x="5076056" y="2775079"/>
              <a:chExt cx="504056" cy="504056"/>
            </a:xfrm>
          </p:grpSpPr>
          <p:sp>
            <p:nvSpPr>
              <p:cNvPr id="67" name="流程图: 接点 66">
                <a:extLst>
                  <a:ext uri="{FF2B5EF4-FFF2-40B4-BE49-F238E27FC236}">
                    <a16:creationId xmlns:a16="http://schemas.microsoft.com/office/drawing/2014/main" id="{A83150B6-1D09-89A0-32BE-C1926952104E}"/>
                  </a:ext>
                </a:extLst>
              </p:cNvPr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Freeform 9">
                <a:extLst>
                  <a:ext uri="{FF2B5EF4-FFF2-40B4-BE49-F238E27FC236}">
                    <a16:creationId xmlns:a16="http://schemas.microsoft.com/office/drawing/2014/main" id="{42C3A0EA-262D-2AED-9FFD-865A710598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737773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E9FD5734-868F-F619-69C7-6C9C5AD69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413" y="554732"/>
            <a:ext cx="3717174" cy="60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defTabSz="685617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pic>
        <p:nvPicPr>
          <p:cNvPr id="19459" name="图片 3">
            <a:extLst>
              <a:ext uri="{FF2B5EF4-FFF2-40B4-BE49-F238E27FC236}">
                <a16:creationId xmlns:a16="http://schemas.microsoft.com/office/drawing/2014/main" id="{458F6EA1-EBF8-AA7D-8C92-6873D4FB6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图片 5">
            <a:extLst>
              <a:ext uri="{FF2B5EF4-FFF2-40B4-BE49-F238E27FC236}">
                <a16:creationId xmlns:a16="http://schemas.microsoft.com/office/drawing/2014/main" id="{E9B35B84-33B0-E325-4133-45BE78909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817DE42-7A3F-9A81-CBF8-1C5D5FBF4FE3}"/>
              </a:ext>
            </a:extLst>
          </p:cNvPr>
          <p:cNvSpPr txBox="1"/>
          <p:nvPr/>
        </p:nvSpPr>
        <p:spPr>
          <a:xfrm>
            <a:off x="1097614" y="1346820"/>
            <a:ext cx="7074786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双碳战略与电力市场改革背景下，未来配电网将形成多虚拟电厂共存的格局，本文围绕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基于双重博弈的多虚拟电厂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云储能多目标低碳协同优化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展开研究，引入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作为多虚拟电厂的协调者，通过制定电价引导多虚拟电厂间积极响应调控需求，寻求一种保护多主体信息隐私的分布式优化运行方式，提出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改进的电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碳定价策略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多虚拟电厂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碳联合分布式交易求解方法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。上述研究工作对于保证电网和多虚拟电厂低碳、稳定、经济运行具有理论价值和实际应用意义。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E9FD5734-868F-F619-69C7-6C9C5AD69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510" y="577674"/>
            <a:ext cx="3717174" cy="60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defTabSz="685617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研究现状知识图谱</a:t>
            </a:r>
          </a:p>
        </p:txBody>
      </p:sp>
      <p:pic>
        <p:nvPicPr>
          <p:cNvPr id="19459" name="图片 3">
            <a:extLst>
              <a:ext uri="{FF2B5EF4-FFF2-40B4-BE49-F238E27FC236}">
                <a16:creationId xmlns:a16="http://schemas.microsoft.com/office/drawing/2014/main" id="{458F6EA1-EBF8-AA7D-8C92-6873D4FB6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2" name="Picture 2" descr="3">
            <a:extLst>
              <a:ext uri="{FF2B5EF4-FFF2-40B4-BE49-F238E27FC236}">
                <a16:creationId xmlns:a16="http://schemas.microsoft.com/office/drawing/2014/main" id="{D98AC0D9-5F1D-4B8A-AE6B-B824DCB09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4"/>
          <a:stretch>
            <a:fillRect/>
          </a:stretch>
        </p:blipFill>
        <p:spPr bwMode="auto">
          <a:xfrm>
            <a:off x="107504" y="1131418"/>
            <a:ext cx="3464273" cy="1936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 descr="碳捕集">
            <a:extLst>
              <a:ext uri="{FF2B5EF4-FFF2-40B4-BE49-F238E27FC236}">
                <a16:creationId xmlns:a16="http://schemas.microsoft.com/office/drawing/2014/main" id="{81D40EA7-9484-4292-8A03-7B6EB4384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88"/>
          <a:stretch>
            <a:fillRect/>
          </a:stretch>
        </p:blipFill>
        <p:spPr bwMode="auto">
          <a:xfrm>
            <a:off x="2886424" y="1022709"/>
            <a:ext cx="3606560" cy="1936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 descr="云">
            <a:extLst>
              <a:ext uri="{FF2B5EF4-FFF2-40B4-BE49-F238E27FC236}">
                <a16:creationId xmlns:a16="http://schemas.microsoft.com/office/drawing/2014/main" id="{840FE4F5-203F-479F-A1CD-7DBD674B2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8" r="14841"/>
          <a:stretch>
            <a:fillRect/>
          </a:stretch>
        </p:blipFill>
        <p:spPr bwMode="auto">
          <a:xfrm>
            <a:off x="342455" y="2582677"/>
            <a:ext cx="3005410" cy="2559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 descr="碳市场">
            <a:extLst>
              <a:ext uri="{FF2B5EF4-FFF2-40B4-BE49-F238E27FC236}">
                <a16:creationId xmlns:a16="http://schemas.microsoft.com/office/drawing/2014/main" id="{E828A8E7-386E-4754-A8A0-DF9E37E6F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35"/>
          <a:stretch>
            <a:fillRect/>
          </a:stretch>
        </p:blipFill>
        <p:spPr bwMode="auto">
          <a:xfrm>
            <a:off x="2958630" y="3099973"/>
            <a:ext cx="3226739" cy="177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6" descr="博弈论">
            <a:extLst>
              <a:ext uri="{FF2B5EF4-FFF2-40B4-BE49-F238E27FC236}">
                <a16:creationId xmlns:a16="http://schemas.microsoft.com/office/drawing/2014/main" id="{2EB10194-AE26-457F-8EE9-CFB56541A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0" t="5760" r="19281" b="6781"/>
          <a:stretch/>
        </p:blipFill>
        <p:spPr bwMode="auto">
          <a:xfrm>
            <a:off x="5436097" y="1131418"/>
            <a:ext cx="3707904" cy="3038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图片 5">
            <a:extLst>
              <a:ext uri="{FF2B5EF4-FFF2-40B4-BE49-F238E27FC236}">
                <a16:creationId xmlns:a16="http://schemas.microsoft.com/office/drawing/2014/main" id="{E9B35B84-33B0-E325-4133-45BE78909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794246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482" y="122685"/>
            <a:ext cx="3026962" cy="607205"/>
          </a:xfrm>
          <a:prstGeom prst="rect">
            <a:avLst/>
          </a:prstGeom>
        </p:spPr>
      </p:pic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46AFB03E-E110-4129-AC7B-929831E419AB}"/>
              </a:ext>
            </a:extLst>
          </p:cNvPr>
          <p:cNvSpPr/>
          <p:nvPr/>
        </p:nvSpPr>
        <p:spPr>
          <a:xfrm>
            <a:off x="203014" y="189000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Freeform 13">
            <a:extLst>
              <a:ext uri="{FF2B5EF4-FFF2-40B4-BE49-F238E27FC236}">
                <a16:creationId xmlns:a16="http://schemas.microsoft.com/office/drawing/2014/main" id="{AC91A03E-CDA7-43C5-92D5-0DEC3C19D07B}"/>
              </a:ext>
            </a:extLst>
          </p:cNvPr>
          <p:cNvSpPr>
            <a:spLocks noEditPoints="1"/>
          </p:cNvSpPr>
          <p:nvPr/>
        </p:nvSpPr>
        <p:spPr bwMode="auto">
          <a:xfrm>
            <a:off x="280527" y="296099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7070" y="199100"/>
            <a:ext cx="327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本文主要研究内容框架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103C316-C62B-77A5-7C31-8E3062CD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1226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1C5816-FFEE-4F2F-9A36-F7BBDB69F7C0}"/>
              </a:ext>
            </a:extLst>
          </p:cNvPr>
          <p:cNvSpPr/>
          <p:nvPr/>
        </p:nvSpPr>
        <p:spPr bwMode="auto">
          <a:xfrm>
            <a:off x="471124" y="914772"/>
            <a:ext cx="2870471" cy="2169817"/>
          </a:xfrm>
          <a:prstGeom prst="rect">
            <a:avLst/>
          </a:prstGeom>
          <a:solidFill>
            <a:srgbClr val="B9CDE5"/>
          </a:solidFill>
          <a:ln w="12700" cap="flat" cmpd="sng" algn="ctr">
            <a:noFill/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1570EA-0BE2-4882-BA80-07AF54D3C153}"/>
              </a:ext>
            </a:extLst>
          </p:cNvPr>
          <p:cNvSpPr/>
          <p:nvPr/>
        </p:nvSpPr>
        <p:spPr>
          <a:xfrm>
            <a:off x="430475" y="870218"/>
            <a:ext cx="3090456" cy="1998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分布式资源建模与多虚拟电厂分布式优化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多虚拟电厂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云储能的低碳混合博弈研究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碳联合市场下多虚拟电厂优化调度策略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7F50F1-B346-4B42-A0A5-4BA8909EF8FE}"/>
              </a:ext>
            </a:extLst>
          </p:cNvPr>
          <p:cNvSpPr/>
          <p:nvPr/>
        </p:nvSpPr>
        <p:spPr bwMode="auto">
          <a:xfrm>
            <a:off x="471124" y="3161469"/>
            <a:ext cx="2870471" cy="1815330"/>
          </a:xfrm>
          <a:prstGeom prst="rect">
            <a:avLst/>
          </a:prstGeom>
          <a:solidFill>
            <a:srgbClr val="B9CDE5"/>
          </a:solidFill>
          <a:ln w="12700" cap="flat" cmpd="sng" algn="ctr">
            <a:noFill/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理论知识</a:t>
            </a:r>
            <a:endParaRPr lang="en-US" altLang="zh-CN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主从博弈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Stackelberg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均衡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合作博弈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-ADMM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分布式算法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云储能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混合博弈双层模型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电碳联合市场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动态排放因子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遗传算法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+CPLEX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3C5D37-0F63-49CA-B994-B1054F894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592" y="755980"/>
            <a:ext cx="5262160" cy="43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9364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>
            <a:extLst>
              <a:ext uri="{FF2B5EF4-FFF2-40B4-BE49-F238E27FC236}">
                <a16:creationId xmlns:a16="http://schemas.microsoft.com/office/drawing/2014/main" id="{D040656F-CF73-F604-A855-93A57F05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>
            <a:extLst>
              <a:ext uri="{FF2B5EF4-FFF2-40B4-BE49-F238E27FC236}">
                <a16:creationId xmlns:a16="http://schemas.microsoft.com/office/drawing/2014/main" id="{75FF6B11-9DE9-C7E8-0447-45139FF9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46E425A0-5C89-1D43-55D5-96D0CAD4D533}"/>
              </a:ext>
            </a:extLst>
          </p:cNvPr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>
              <a:extLst>
                <a:ext uri="{FF2B5EF4-FFF2-40B4-BE49-F238E27FC236}">
                  <a16:creationId xmlns:a16="http://schemas.microsoft.com/office/drawing/2014/main" id="{9582CB73-E242-ED3A-E23E-860D01EE4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617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299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研究内容一</a:t>
              </a:r>
            </a:p>
          </p:txBody>
        </p:sp>
        <p:grpSp>
          <p:nvGrpSpPr>
            <p:cNvPr id="25605" name="组合 4">
              <a:extLst>
                <a:ext uri="{FF2B5EF4-FFF2-40B4-BE49-F238E27FC236}">
                  <a16:creationId xmlns:a16="http://schemas.microsoft.com/office/drawing/2014/main" id="{5DA013B6-269F-3A9A-0884-F8B283621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9B482FD-6036-7D20-6101-B5181A383FBD}"/>
                  </a:ext>
                </a:extLst>
              </p:cNvPr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61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>
                <a:extLst>
                  <a:ext uri="{FF2B5EF4-FFF2-40B4-BE49-F238E27FC236}">
                    <a16:creationId xmlns:a16="http://schemas.microsoft.com/office/drawing/2014/main" id="{65837C08-DDE0-0B94-BE53-E900885C48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617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02AE114-6B97-B281-54C5-74D4B6D2D1E4}"/>
              </a:ext>
            </a:extLst>
          </p:cNvPr>
          <p:cNvSpPr txBox="1"/>
          <p:nvPr/>
        </p:nvSpPr>
        <p:spPr>
          <a:xfrm>
            <a:off x="936836" y="2570956"/>
            <a:ext cx="7739620" cy="60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分布式资源建模与多虚拟电厂分布式优化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323528" y="849322"/>
            <a:ext cx="8496944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326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虚拟电厂系统结构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9833653-CE85-4095-9D6E-2F2E2285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5E184E9-E42A-01A6-BE6C-DB58ADA18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81BD1E3-6588-8FCC-5D3E-F586022F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8E14C6B-4EAD-5332-40FB-9803482C0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91E8ED54-62A5-2329-09B5-D4C85CD3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07EA9E18-A5F0-794B-D59D-FF6ED552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DE81B3E8-B023-B0FD-B1C6-8011400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64DDCFEC-D2C7-19E6-4CF4-2B6F4EBF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9EBEB3E4-8987-62C7-D903-879B221A5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5" name="Rectangle 18">
            <a:extLst>
              <a:ext uri="{FF2B5EF4-FFF2-40B4-BE49-F238E27FC236}">
                <a16:creationId xmlns:a16="http://schemas.microsoft.com/office/drawing/2014/main" id="{E90F2829-7DED-58CC-09BC-D80CDF7BF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7" name="Rectangle 20">
            <a:extLst>
              <a:ext uri="{FF2B5EF4-FFF2-40B4-BE49-F238E27FC236}">
                <a16:creationId xmlns:a16="http://schemas.microsoft.com/office/drawing/2014/main" id="{1EA2E72B-6B72-C59F-8EDA-34B4BDECE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6" name="Rectangle 22">
            <a:extLst>
              <a:ext uri="{FF2B5EF4-FFF2-40B4-BE49-F238E27FC236}">
                <a16:creationId xmlns:a16="http://schemas.microsoft.com/office/drawing/2014/main" id="{064323ED-D51C-DBA4-6029-F16AC23E5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" name="Rectangle 24">
            <a:extLst>
              <a:ext uri="{FF2B5EF4-FFF2-40B4-BE49-F238E27FC236}">
                <a16:creationId xmlns:a16="http://schemas.microsoft.com/office/drawing/2014/main" id="{6C655441-ECC6-D6CC-0987-817917D4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Rectangle 26">
            <a:extLst>
              <a:ext uri="{FF2B5EF4-FFF2-40B4-BE49-F238E27FC236}">
                <a16:creationId xmlns:a16="http://schemas.microsoft.com/office/drawing/2014/main" id="{90E02612-56E9-2989-AB11-4908CEDB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17E6A7-E202-A0EF-94EB-F6CA9D417AEB}"/>
              </a:ext>
            </a:extLst>
          </p:cNvPr>
          <p:cNvSpPr txBox="1"/>
          <p:nvPr/>
        </p:nvSpPr>
        <p:spPr>
          <a:xfrm>
            <a:off x="922126" y="3691194"/>
            <a:ext cx="7494550" cy="98757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虚拟电厂系统组成包含有可通过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碳捕集协同垃圾焚烧技术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进行灵活调控的机组、不可调控发电单元风电和光伏，电负荷由可中断负荷和固定负荷组成，实际情况表明，当中断某些负荷时，必须考虑到对用户进行相应的补偿费用。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4F7EED-4769-4C0C-93FF-9C89546B3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1021564"/>
            <a:ext cx="6531507" cy="2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2099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71296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5554550" y="1455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D516925-BC5D-4580-951C-69395163B653}"/>
              </a:ext>
            </a:extLst>
          </p:cNvPr>
          <p:cNvSpPr/>
          <p:nvPr/>
        </p:nvSpPr>
        <p:spPr bwMode="auto">
          <a:xfrm>
            <a:off x="532498" y="1058788"/>
            <a:ext cx="2726030" cy="3694434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D2F982-6FC7-4B7F-AFC9-24D55BB87636}"/>
              </a:ext>
            </a:extLst>
          </p:cNvPr>
          <p:cNvSpPr/>
          <p:nvPr/>
        </p:nvSpPr>
        <p:spPr>
          <a:xfrm>
            <a:off x="572884" y="1189573"/>
            <a:ext cx="2622984" cy="3432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120000"/>
              </a:lnSpc>
              <a:spcBef>
                <a:spcPts val="700"/>
              </a:spcBef>
              <a:defRPr/>
            </a:pPr>
            <a:r>
              <a:rPr lang="zh-CN" altLang="en-US" sz="13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分布式资源属性差异角度分析，可将其分为电源型、储能型、和负荷型三大种类，主要包含光伏发电、风能发电、储能系统、柔性负荷等资源，虚拟电厂对它们进行集中管理，其目的是为了提供更好的资源服务、提升用户用电稳定性安全性，从</a:t>
            </a:r>
            <a:r>
              <a:rPr lang="zh-CN" altLang="en-US" sz="13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电力供应</a:t>
            </a:r>
            <a:r>
              <a:rPr lang="zh-CN" altLang="en-US" sz="13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角度、</a:t>
            </a:r>
            <a:r>
              <a:rPr lang="zh-CN" altLang="en-US" sz="13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环境经济效益</a:t>
            </a:r>
            <a:r>
              <a:rPr lang="zh-CN" altLang="en-US" sz="13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角度、</a:t>
            </a:r>
            <a:r>
              <a:rPr lang="zh-CN" altLang="en-US" sz="13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时间尺度</a:t>
            </a:r>
            <a:r>
              <a:rPr lang="zh-CN" altLang="en-US" sz="13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层面、</a:t>
            </a:r>
            <a:r>
              <a:rPr lang="zh-CN" altLang="en-US" sz="13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空间尺度</a:t>
            </a:r>
            <a:r>
              <a:rPr lang="zh-CN" altLang="en-US" sz="13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层面对形态各异的分布式资源进行特性互补分析，以实现对分布式资源的最佳利用，为虚拟电厂优化调度策略提供更好的理论支持。</a:t>
            </a:r>
            <a:endParaRPr lang="zh-CN" altLang="zh-CN" sz="13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C0D66B-F3B0-48CA-9504-420DA0CE5C53}"/>
              </a:ext>
            </a:extLst>
          </p:cNvPr>
          <p:cNvSpPr txBox="1"/>
          <p:nvPr/>
        </p:nvSpPr>
        <p:spPr>
          <a:xfrm>
            <a:off x="536926" y="243085"/>
            <a:ext cx="3026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分布式资源特性分析</a:t>
            </a:r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9A5C42BC-39F1-4E55-BD9C-4BF3F2805DF6}"/>
              </a:ext>
            </a:extLst>
          </p:cNvPr>
          <p:cNvSpPr/>
          <p:nvPr/>
        </p:nvSpPr>
        <p:spPr>
          <a:xfrm>
            <a:off x="107504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A8F118B6-510E-4B94-977F-CA2CB680DC9F}"/>
              </a:ext>
            </a:extLst>
          </p:cNvPr>
          <p:cNvSpPr>
            <a:spLocks noEditPoints="1"/>
          </p:cNvSpPr>
          <p:nvPr/>
        </p:nvSpPr>
        <p:spPr bwMode="auto">
          <a:xfrm>
            <a:off x="184368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3F7472-09E2-4129-9390-5405790DB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633" y="914772"/>
            <a:ext cx="5634037" cy="3818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A98FEFA-4D9E-46B0-BD48-8C63A94CCCC4}"/>
              </a:ext>
            </a:extLst>
          </p:cNvPr>
          <p:cNvSpPr/>
          <p:nvPr/>
        </p:nvSpPr>
        <p:spPr>
          <a:xfrm>
            <a:off x="4166643" y="4293674"/>
            <a:ext cx="4571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69875" algn="just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DFE544-49C7-41CF-AC13-ECCBC53ADAC5}"/>
              </a:ext>
            </a:extLst>
          </p:cNvPr>
          <p:cNvSpPr/>
          <p:nvPr/>
        </p:nvSpPr>
        <p:spPr bwMode="auto">
          <a:xfrm>
            <a:off x="433927" y="1056113"/>
            <a:ext cx="2696979" cy="3866116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9090AB-3F5B-4F97-BA6F-94676AE8477F}"/>
              </a:ext>
            </a:extLst>
          </p:cNvPr>
          <p:cNvSpPr/>
          <p:nvPr/>
        </p:nvSpPr>
        <p:spPr>
          <a:xfrm>
            <a:off x="456020" y="1208459"/>
            <a:ext cx="2622984" cy="356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内部设置碳捕集和垃圾焚烧电厂，一方面可以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减轻垃圾处理的压力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减少二氧化碳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的排放；另一方面，捕集到的二氧化碳与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碳交易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市场交易，减少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成本。因此，在所提模型中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电能、热能来源不再单一，用能更灵活，环境效益好。碳捕集电厂的二氧化碳分离提纯储存原理及流程如图所示。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通过调整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排放的烟气进入吸收塔的比例来控制碳捕集的能耗，相当于可调度负荷增加</a:t>
            </a:r>
            <a:r>
              <a:rPr kumimoji="0" lang="en-US" altLang="zh-CN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kumimoji="0" lang="zh-CN" altLang="en-US" sz="13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向下调峰的能力，同时减少弃风、光带来的损失。</a:t>
            </a:r>
            <a:endParaRPr kumimoji="0" lang="zh-CN" altLang="zh-CN" sz="135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79C7B7-4EDF-4055-9C05-8FABDFC8B627}"/>
              </a:ext>
            </a:extLst>
          </p:cNvPr>
          <p:cNvSpPr txBox="1"/>
          <p:nvPr/>
        </p:nvSpPr>
        <p:spPr>
          <a:xfrm>
            <a:off x="584869" y="194692"/>
            <a:ext cx="362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碳捕集协同垃圾焚烧技术</a:t>
            </a:r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66BD1927-25AC-464D-A760-10772E91E9EE}"/>
              </a:ext>
            </a:extLst>
          </p:cNvPr>
          <p:cNvSpPr/>
          <p:nvPr/>
        </p:nvSpPr>
        <p:spPr>
          <a:xfrm>
            <a:off x="107504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8DA59D1F-72FD-4AD5-B92F-585E4183C387}"/>
              </a:ext>
            </a:extLst>
          </p:cNvPr>
          <p:cNvSpPr>
            <a:spLocks noEditPoints="1"/>
          </p:cNvSpPr>
          <p:nvPr/>
        </p:nvSpPr>
        <p:spPr bwMode="auto">
          <a:xfrm>
            <a:off x="184368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1A2BAD-3B18-4BE9-855C-AA18D8D37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673" y="1056114"/>
            <a:ext cx="5322040" cy="386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323528" y="849322"/>
            <a:ext cx="8496944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390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虚拟电厂系统设备模型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D83361-E209-4A6B-B0E8-9B7127E3C763}"/>
              </a:ext>
            </a:extLst>
          </p:cNvPr>
          <p:cNvSpPr txBox="1"/>
          <p:nvPr/>
        </p:nvSpPr>
        <p:spPr>
          <a:xfrm>
            <a:off x="4459914" y="4353946"/>
            <a:ext cx="338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虚拟电厂系统设备数学模型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9833653-CE85-4095-9D6E-2F2E2285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13A1B6E-08DF-3286-1670-6909F26C1E95}"/>
              </a:ext>
            </a:extLst>
          </p:cNvPr>
          <p:cNvSpPr/>
          <p:nvPr/>
        </p:nvSpPr>
        <p:spPr>
          <a:xfrm>
            <a:off x="3502234" y="1066751"/>
            <a:ext cx="2522156" cy="316038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4442C5D-B69D-D7AF-A837-5FAE0F41948A}"/>
              </a:ext>
            </a:extLst>
          </p:cNvPr>
          <p:cNvSpPr txBox="1"/>
          <p:nvPr/>
        </p:nvSpPr>
        <p:spPr>
          <a:xfrm>
            <a:off x="3779912" y="1131075"/>
            <a:ext cx="2001393" cy="3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碳捕集及垃圾焚烧模型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41423E5-B680-BBC6-B9FA-2DF7A90311CE}"/>
              </a:ext>
            </a:extLst>
          </p:cNvPr>
          <p:cNvSpPr/>
          <p:nvPr/>
        </p:nvSpPr>
        <p:spPr>
          <a:xfrm>
            <a:off x="6278379" y="1065285"/>
            <a:ext cx="2326069" cy="31618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095CD5-2A34-1912-579B-C3B8091C88D9}"/>
              </a:ext>
            </a:extLst>
          </p:cNvPr>
          <p:cNvSpPr txBox="1"/>
          <p:nvPr/>
        </p:nvSpPr>
        <p:spPr>
          <a:xfrm>
            <a:off x="6720474" y="1131075"/>
            <a:ext cx="1409699" cy="309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储能设备模型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5E184E9-E42A-01A6-BE6C-DB58ADA18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81BD1E3-6588-8FCC-5D3E-F586022F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8E14C6B-4EAD-5332-40FB-9803482C0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91E8ED54-62A5-2329-09B5-D4C85CD3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07EA9E18-A5F0-794B-D59D-FF6ED552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DE81B3E8-B023-B0FD-B1C6-8011400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64DDCFEC-D2C7-19E6-4CF4-2B6F4EBF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9EBEB3E4-8987-62C7-D903-879B221A5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5" name="Rectangle 18">
            <a:extLst>
              <a:ext uri="{FF2B5EF4-FFF2-40B4-BE49-F238E27FC236}">
                <a16:creationId xmlns:a16="http://schemas.microsoft.com/office/drawing/2014/main" id="{E90F2829-7DED-58CC-09BC-D80CDF7BF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7" name="Rectangle 20">
            <a:extLst>
              <a:ext uri="{FF2B5EF4-FFF2-40B4-BE49-F238E27FC236}">
                <a16:creationId xmlns:a16="http://schemas.microsoft.com/office/drawing/2014/main" id="{1EA2E72B-6B72-C59F-8EDA-34B4BDECE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6" name="Rectangle 22">
            <a:extLst>
              <a:ext uri="{FF2B5EF4-FFF2-40B4-BE49-F238E27FC236}">
                <a16:creationId xmlns:a16="http://schemas.microsoft.com/office/drawing/2014/main" id="{064323ED-D51C-DBA4-6029-F16AC23E5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" name="Rectangle 24">
            <a:extLst>
              <a:ext uri="{FF2B5EF4-FFF2-40B4-BE49-F238E27FC236}">
                <a16:creationId xmlns:a16="http://schemas.microsoft.com/office/drawing/2014/main" id="{6C655441-ECC6-D6CC-0987-817917D4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Rectangle 26">
            <a:extLst>
              <a:ext uri="{FF2B5EF4-FFF2-40B4-BE49-F238E27FC236}">
                <a16:creationId xmlns:a16="http://schemas.microsoft.com/office/drawing/2014/main" id="{90E02612-56E9-2989-AB11-4908CEDB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82CBDA-0D35-6A96-3D4F-A579816F66A4}"/>
              </a:ext>
            </a:extLst>
          </p:cNvPr>
          <p:cNvSpPr txBox="1"/>
          <p:nvPr/>
        </p:nvSpPr>
        <p:spPr>
          <a:xfrm>
            <a:off x="1331640" y="3778936"/>
            <a:ext cx="1419704" cy="3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光伏机组模型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405EF-4D65-DABA-6220-BCE7DB6D09BB}"/>
              </a:ext>
            </a:extLst>
          </p:cNvPr>
          <p:cNvSpPr/>
          <p:nvPr/>
        </p:nvSpPr>
        <p:spPr>
          <a:xfrm>
            <a:off x="656015" y="3733812"/>
            <a:ext cx="2783771" cy="121340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9DFEDD5-78CB-4C76-7763-1AEEF658FEC6}"/>
              </a:ext>
            </a:extLst>
          </p:cNvPr>
          <p:cNvSpPr txBox="1"/>
          <p:nvPr/>
        </p:nvSpPr>
        <p:spPr>
          <a:xfrm>
            <a:off x="1331640" y="1088207"/>
            <a:ext cx="1419704" cy="3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风电机组模型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49714DC-C4EB-026A-ECCA-18461910A8E9}"/>
              </a:ext>
            </a:extLst>
          </p:cNvPr>
          <p:cNvSpPr/>
          <p:nvPr/>
        </p:nvSpPr>
        <p:spPr>
          <a:xfrm>
            <a:off x="658310" y="1047840"/>
            <a:ext cx="2781475" cy="2599132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36C63C1-56AB-44B9-A2A9-957E09B3F4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940462"/>
              </p:ext>
            </p:extLst>
          </p:nvPr>
        </p:nvGraphicFramePr>
        <p:xfrm>
          <a:off x="1570955" y="1454625"/>
          <a:ext cx="91281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3" name="Equation" r:id="rId5" imgW="912167" imgH="275644" progId="Equation.DSMT4">
                  <p:embed/>
                </p:oleObj>
              </mc:Choice>
              <mc:Fallback>
                <p:oleObj name="Equation" r:id="rId5" imgW="912167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0955" y="1454625"/>
                        <a:ext cx="91281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9A242F-9088-4B86-8DA9-2E30CEA88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574639"/>
              </p:ext>
            </p:extLst>
          </p:nvPr>
        </p:nvGraphicFramePr>
        <p:xfrm>
          <a:off x="899592" y="1730850"/>
          <a:ext cx="23749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4" name="Equation" r:id="rId7" imgW="2375584" imgH="1920882" progId="Equation.DSMT4">
                  <p:embed/>
                </p:oleObj>
              </mc:Choice>
              <mc:Fallback>
                <p:oleObj name="Equation" r:id="rId7" imgW="2375584" imgH="192088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9592" y="1730850"/>
                        <a:ext cx="2374900" cy="192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561BE63-FD3E-48EE-9DAF-6315A092B5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145884"/>
              </p:ext>
            </p:extLst>
          </p:nvPr>
        </p:nvGraphicFramePr>
        <p:xfrm>
          <a:off x="2267744" y="4454971"/>
          <a:ext cx="10080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5" name="Equation" r:id="rId9" imgW="1007334" imgH="275644" progId="Equation.DSMT4">
                  <p:embed/>
                </p:oleObj>
              </mc:Choice>
              <mc:Fallback>
                <p:oleObj name="Equation" r:id="rId9" imgW="1007334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7744" y="4454971"/>
                        <a:ext cx="100806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BA975EE-4DD9-4329-914B-9B3542325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997475"/>
              </p:ext>
            </p:extLst>
          </p:nvPr>
        </p:nvGraphicFramePr>
        <p:xfrm>
          <a:off x="702936" y="4071366"/>
          <a:ext cx="27368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6" name="Equation" r:id="rId11" imgW="2736500" imgH="732056" progId="Equation.DSMT4">
                  <p:embed/>
                </p:oleObj>
              </mc:Choice>
              <mc:Fallback>
                <p:oleObj name="Equation" r:id="rId11" imgW="2736500" imgH="7320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2936" y="4071366"/>
                        <a:ext cx="2736850" cy="73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D46482F-E7C0-44C4-9F36-73A190631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392751"/>
              </p:ext>
            </p:extLst>
          </p:nvPr>
        </p:nvGraphicFramePr>
        <p:xfrm>
          <a:off x="6277173" y="1612751"/>
          <a:ext cx="23272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7" name="Equation" r:id="rId13" imgW="2327821" imgH="237550" progId="Equation.DSMT4">
                  <p:embed/>
                </p:oleObj>
              </mc:Choice>
              <mc:Fallback>
                <p:oleObj name="Equation" r:id="rId13" imgW="2327821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77173" y="1612751"/>
                        <a:ext cx="2327275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E0C71F2-F5A8-44EB-AEB9-C2A3CD928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54747"/>
              </p:ext>
            </p:extLst>
          </p:nvPr>
        </p:nvGraphicFramePr>
        <p:xfrm>
          <a:off x="6364797" y="1897732"/>
          <a:ext cx="2119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8" name="Equation" r:id="rId15" imgW="2118813" imgH="456412" progId="Equation.DSMT4">
                  <p:embed/>
                </p:oleObj>
              </mc:Choice>
              <mc:Fallback>
                <p:oleObj name="Equation" r:id="rId15" imgW="2118813" imgH="4564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64797" y="1897732"/>
                        <a:ext cx="2119313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9F2EDD3-CF9E-4DE5-9CB8-DCC74984A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299755"/>
              </p:ext>
            </p:extLst>
          </p:nvPr>
        </p:nvGraphicFramePr>
        <p:xfrm>
          <a:off x="6634108" y="2426940"/>
          <a:ext cx="15208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9" name="Equation" r:id="rId17" imgW="1520158" imgH="237550" progId="Equation.DSMT4">
                  <p:embed/>
                </p:oleObj>
              </mc:Choice>
              <mc:Fallback>
                <p:oleObj name="Equation" r:id="rId17" imgW="1520158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34108" y="2426940"/>
                        <a:ext cx="1520825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CF94BBF-F2E0-480A-93FC-00F8B25CF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351617"/>
              </p:ext>
            </p:extLst>
          </p:nvPr>
        </p:nvGraphicFramePr>
        <p:xfrm>
          <a:off x="7037089" y="2764879"/>
          <a:ext cx="70326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0" name="Equation" r:id="rId19" imgW="703159" imgH="237550" progId="Equation.DSMT4">
                  <p:embed/>
                </p:oleObj>
              </mc:Choice>
              <mc:Fallback>
                <p:oleObj name="Equation" r:id="rId19" imgW="703159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37089" y="2764879"/>
                        <a:ext cx="703263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F510F82-BF52-4564-8DEF-95D7CC3107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272303"/>
              </p:ext>
            </p:extLst>
          </p:nvPr>
        </p:nvGraphicFramePr>
        <p:xfrm>
          <a:off x="6474334" y="3097344"/>
          <a:ext cx="19002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1" name="Equation" r:id="rId21" imgW="1900467" imgH="1017403" progId="Equation.DSMT4">
                  <p:embed/>
                </p:oleObj>
              </mc:Choice>
              <mc:Fallback>
                <p:oleObj name="Equation" r:id="rId21" imgW="1900467" imgH="101740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74334" y="3097344"/>
                        <a:ext cx="1900237" cy="1017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FE82E9-B828-424B-AADD-D864BCB18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376200"/>
              </p:ext>
            </p:extLst>
          </p:nvPr>
        </p:nvGraphicFramePr>
        <p:xfrm>
          <a:off x="4134912" y="1455419"/>
          <a:ext cx="11874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2" name="Equation" r:id="rId23" imgW="1187612" imgH="275644" progId="Equation.DSMT4">
                  <p:embed/>
                </p:oleObj>
              </mc:Choice>
              <mc:Fallback>
                <p:oleObj name="Equation" r:id="rId23" imgW="1187612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34912" y="1455419"/>
                        <a:ext cx="118745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E908AEF-2C95-4183-B557-9DAAD9EDE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942623"/>
              </p:ext>
            </p:extLst>
          </p:nvPr>
        </p:nvGraphicFramePr>
        <p:xfrm>
          <a:off x="4242432" y="1816102"/>
          <a:ext cx="91281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3" name="Equation" r:id="rId25" imgW="912167" imgH="275644" progId="Equation.DSMT4">
                  <p:embed/>
                </p:oleObj>
              </mc:Choice>
              <mc:Fallback>
                <p:oleObj name="Equation" r:id="rId25" imgW="912167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42432" y="1816102"/>
                        <a:ext cx="91281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9440DFB4-C677-45D4-B843-C3AFEEF0D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665848"/>
              </p:ext>
            </p:extLst>
          </p:nvPr>
        </p:nvGraphicFramePr>
        <p:xfrm>
          <a:off x="4182537" y="2222723"/>
          <a:ext cx="10922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4" name="Equation" r:id="rId27" imgW="1092805" imgH="275644" progId="Equation.DSMT4">
                  <p:embed/>
                </p:oleObj>
              </mc:Choice>
              <mc:Fallback>
                <p:oleObj name="Equation" r:id="rId27" imgW="1092805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82537" y="2222723"/>
                        <a:ext cx="109220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44D4E04-FF93-4425-BCDA-91178BD12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36068"/>
              </p:ext>
            </p:extLst>
          </p:nvPr>
        </p:nvGraphicFramePr>
        <p:xfrm>
          <a:off x="4238022" y="2709688"/>
          <a:ext cx="9398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5" name="Equation" r:id="rId29" imgW="940537" imgH="941214" progId="Equation.DSMT4">
                  <p:embed/>
                </p:oleObj>
              </mc:Choice>
              <mc:Fallback>
                <p:oleObj name="Equation" r:id="rId29" imgW="940537" imgH="9412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38022" y="2709688"/>
                        <a:ext cx="939800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C1D248B-57D0-4B10-8ED9-66F191364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25525"/>
              </p:ext>
            </p:extLst>
          </p:nvPr>
        </p:nvGraphicFramePr>
        <p:xfrm>
          <a:off x="4092049" y="3806899"/>
          <a:ext cx="12731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6" name="Equation" r:id="rId31" imgW="1273083" imgH="275644" progId="Equation.DSMT4">
                  <p:embed/>
                </p:oleObj>
              </mc:Choice>
              <mc:Fallback>
                <p:oleObj name="Equation" r:id="rId31" imgW="1273083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092049" y="3806899"/>
                        <a:ext cx="1273175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0892390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914772"/>
            <a:ext cx="8568952" cy="403514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347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算法求解及场景设置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7DC9A0-9D44-4BC1-682B-A5DA196D0B19}"/>
              </a:ext>
            </a:extLst>
          </p:cNvPr>
          <p:cNvSpPr txBox="1"/>
          <p:nvPr/>
        </p:nvSpPr>
        <p:spPr>
          <a:xfrm>
            <a:off x="1000065" y="1091905"/>
            <a:ext cx="2032860" cy="3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需求响应模型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0C8B49-7C8B-F59D-856A-2706BD551D21}"/>
              </a:ext>
            </a:extLst>
          </p:cNvPr>
          <p:cNvSpPr/>
          <p:nvPr/>
        </p:nvSpPr>
        <p:spPr>
          <a:xfrm>
            <a:off x="395536" y="1058788"/>
            <a:ext cx="3139759" cy="268306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2A404C-756E-4BCE-01DC-54601DB2A297}"/>
              </a:ext>
            </a:extLst>
          </p:cNvPr>
          <p:cNvGrpSpPr/>
          <p:nvPr/>
        </p:nvGrpSpPr>
        <p:grpSpPr>
          <a:xfrm>
            <a:off x="3681702" y="1051563"/>
            <a:ext cx="2414506" cy="1015337"/>
            <a:chOff x="3931140" y="1130796"/>
            <a:chExt cx="2414506" cy="1366907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9838863-A785-287E-BD92-5BA32CD481A9}"/>
                </a:ext>
              </a:extLst>
            </p:cNvPr>
            <p:cNvSpPr txBox="1"/>
            <p:nvPr/>
          </p:nvSpPr>
          <p:spPr>
            <a:xfrm>
              <a:off x="4131653" y="1138021"/>
              <a:ext cx="2032860" cy="308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目标函数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B7F5937-1202-25F1-84D3-F78B47AEA193}"/>
                </a:ext>
              </a:extLst>
            </p:cNvPr>
            <p:cNvSpPr/>
            <p:nvPr/>
          </p:nvSpPr>
          <p:spPr>
            <a:xfrm>
              <a:off x="3931140" y="1130796"/>
              <a:ext cx="2414506" cy="1366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99A1FA2-B3CB-80A9-25C3-A9D5C05AD47D}"/>
              </a:ext>
            </a:extLst>
          </p:cNvPr>
          <p:cNvGrpSpPr/>
          <p:nvPr/>
        </p:nvGrpSpPr>
        <p:grpSpPr>
          <a:xfrm>
            <a:off x="3635896" y="2193653"/>
            <a:ext cx="2608924" cy="2609552"/>
            <a:chOff x="3889020" y="2230410"/>
            <a:chExt cx="2608924" cy="260955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8EEBBC1-F9A1-61AA-350E-8575B689C8F3}"/>
                </a:ext>
              </a:extLst>
            </p:cNvPr>
            <p:cNvSpPr txBox="1"/>
            <p:nvPr/>
          </p:nvSpPr>
          <p:spPr>
            <a:xfrm>
              <a:off x="3889020" y="2277976"/>
              <a:ext cx="2608924" cy="308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ADMM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算法基本原理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75FA2CF-1E74-C24C-E66D-DF6E7F0E5A00}"/>
                </a:ext>
              </a:extLst>
            </p:cNvPr>
            <p:cNvSpPr/>
            <p:nvPr/>
          </p:nvSpPr>
          <p:spPr>
            <a:xfrm>
              <a:off x="3931141" y="2230410"/>
              <a:ext cx="2414506" cy="26095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9838863-A785-287E-BD92-5BA32CD481A9}"/>
              </a:ext>
            </a:extLst>
          </p:cNvPr>
          <p:cNvSpPr txBox="1"/>
          <p:nvPr/>
        </p:nvSpPr>
        <p:spPr>
          <a:xfrm>
            <a:off x="5988849" y="1058788"/>
            <a:ext cx="2829232" cy="3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场景设置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DFC12D-C5A8-FDE8-2EC9-0C214AF9CA9B}"/>
              </a:ext>
            </a:extLst>
          </p:cNvPr>
          <p:cNvSpPr/>
          <p:nvPr/>
        </p:nvSpPr>
        <p:spPr>
          <a:xfrm>
            <a:off x="6218801" y="1040314"/>
            <a:ext cx="2538712" cy="37628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622D7A-3B36-7BC4-4337-FF19945FC3A8}"/>
              </a:ext>
            </a:extLst>
          </p:cNvPr>
          <p:cNvSpPr txBox="1"/>
          <p:nvPr/>
        </p:nvSpPr>
        <p:spPr>
          <a:xfrm>
            <a:off x="386487" y="3806672"/>
            <a:ext cx="3156563" cy="114492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价格需求响应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模型引导用户合理用电，通过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ADMM</a:t>
            </a: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算法求解多虚拟电厂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分布式优化</a:t>
            </a:r>
            <a:r>
              <a:rPr lang="zh-CN" altLang="en-US" sz="1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，选取我国某地区电网实际网架为基础，进行算例分析。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634B9A-DF2D-4B6D-9401-7ABCF2C57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329770"/>
              </p:ext>
            </p:extLst>
          </p:nvPr>
        </p:nvGraphicFramePr>
        <p:xfrm>
          <a:off x="718134" y="1653839"/>
          <a:ext cx="8461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3" name="Equation" r:id="rId5" imgW="845729" imgH="465755" progId="Equation.DSMT4">
                  <p:embed/>
                </p:oleObj>
              </mc:Choice>
              <mc:Fallback>
                <p:oleObj name="Equation" r:id="rId5" imgW="845729" imgH="4657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8134" y="1653839"/>
                        <a:ext cx="846137" cy="46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45117F8-2819-40DA-B5E4-1C59ADA96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664278"/>
              </p:ext>
            </p:extLst>
          </p:nvPr>
        </p:nvGraphicFramePr>
        <p:xfrm>
          <a:off x="1774417" y="1499857"/>
          <a:ext cx="13112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4" name="Equation" r:id="rId7" imgW="1311150" imgH="741759" progId="Equation.DSMT4">
                  <p:embed/>
                </p:oleObj>
              </mc:Choice>
              <mc:Fallback>
                <p:oleObj name="Equation" r:id="rId7" imgW="1311150" imgH="741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4417" y="1499857"/>
                        <a:ext cx="1311275" cy="741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B060582-52CC-487A-B40D-E72AC1039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429249"/>
              </p:ext>
            </p:extLst>
          </p:nvPr>
        </p:nvGraphicFramePr>
        <p:xfrm>
          <a:off x="619086" y="2249597"/>
          <a:ext cx="268922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5" name="Equation" r:id="rId9" imgW="2689096" imgH="1492861" progId="Equation.DSMT4">
                  <p:embed/>
                </p:oleObj>
              </mc:Choice>
              <mc:Fallback>
                <p:oleObj name="Equation" r:id="rId9" imgW="2689096" imgH="14928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9086" y="2249597"/>
                        <a:ext cx="2689225" cy="149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13EDC93-6396-411B-B451-52217F102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041522"/>
              </p:ext>
            </p:extLst>
          </p:nvPr>
        </p:nvGraphicFramePr>
        <p:xfrm>
          <a:off x="3851920" y="1346820"/>
          <a:ext cx="2159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6" name="Equation" r:id="rId11" imgW="2158920" imgH="558720" progId="Equation.DSMT4">
                  <p:embed/>
                </p:oleObj>
              </mc:Choice>
              <mc:Fallback>
                <p:oleObj name="Equation" r:id="rId11" imgW="215892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1920" y="1346820"/>
                        <a:ext cx="21590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0045100-1158-484C-A951-9A6F81E45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17341"/>
              </p:ext>
            </p:extLst>
          </p:nvPr>
        </p:nvGraphicFramePr>
        <p:xfrm>
          <a:off x="4201314" y="2557121"/>
          <a:ext cx="1273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7" name="Equation" r:id="rId13" imgW="1273083" imgH="456412" progId="Equation.DSMT4">
                  <p:embed/>
                </p:oleObj>
              </mc:Choice>
              <mc:Fallback>
                <p:oleObj name="Equation" r:id="rId13" imgW="1273083" imgH="4564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01314" y="2557121"/>
                        <a:ext cx="127317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3B6F5BD-06B7-42E4-85D3-16A057476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65110"/>
              </p:ext>
            </p:extLst>
          </p:nvPr>
        </p:nvGraphicFramePr>
        <p:xfrm>
          <a:off x="3888586" y="3075063"/>
          <a:ext cx="210026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8" name="Equation" r:id="rId15" imgW="2099779" imgH="1008059" progId="Equation.DSMT4">
                  <p:embed/>
                </p:oleObj>
              </mc:Choice>
              <mc:Fallback>
                <p:oleObj name="Equation" r:id="rId15" imgW="2099779" imgH="10080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88586" y="3075063"/>
                        <a:ext cx="2100263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6178302-045C-48A6-9F65-495F647B0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16574"/>
              </p:ext>
            </p:extLst>
          </p:nvPr>
        </p:nvGraphicFramePr>
        <p:xfrm>
          <a:off x="3954490" y="4141011"/>
          <a:ext cx="1843087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9" name="Equation" r:id="rId17" imgW="1843367" imgH="237550" progId="Equation.DSMT4">
                  <p:embed/>
                </p:oleObj>
              </mc:Choice>
              <mc:Fallback>
                <p:oleObj name="Equation" r:id="rId17" imgW="1843367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54490" y="4141011"/>
                        <a:ext cx="1843087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339EE31-15E4-4ED2-AECA-110D9F39C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04027"/>
              </p:ext>
            </p:extLst>
          </p:nvPr>
        </p:nvGraphicFramePr>
        <p:xfrm>
          <a:off x="3969342" y="4446860"/>
          <a:ext cx="179546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0" name="Equation" r:id="rId19" imgW="1795963" imgH="237550" progId="Equation.DSMT4">
                  <p:embed/>
                </p:oleObj>
              </mc:Choice>
              <mc:Fallback>
                <p:oleObj name="Equation" r:id="rId19" imgW="1795963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69342" y="4446860"/>
                        <a:ext cx="1795463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图片 28">
            <a:extLst>
              <a:ext uri="{FF2B5EF4-FFF2-40B4-BE49-F238E27FC236}">
                <a16:creationId xmlns:a16="http://schemas.microsoft.com/office/drawing/2014/main" id="{96DEAA5F-1170-4807-9B34-8E3CF469870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2671" y="1380986"/>
            <a:ext cx="2555126" cy="1735315"/>
          </a:xfrm>
          <a:prstGeom prst="rect">
            <a:avLst/>
          </a:prstGeom>
        </p:spPr>
      </p:pic>
      <p:sp>
        <p:nvSpPr>
          <p:cNvPr id="31" name="Rectangle 117">
            <a:extLst>
              <a:ext uri="{FF2B5EF4-FFF2-40B4-BE49-F238E27FC236}">
                <a16:creationId xmlns:a16="http://schemas.microsoft.com/office/drawing/2014/main" id="{6429A6F6-69E0-4082-92C4-F85DA7C0485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692028" y="2428747"/>
            <a:ext cx="56889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166" name="Picture 118">
            <a:extLst>
              <a:ext uri="{FF2B5EF4-FFF2-40B4-BE49-F238E27FC236}">
                <a16:creationId xmlns:a16="http://schemas.microsoft.com/office/drawing/2014/main" id="{DE7944EC-D6FF-4EF9-B62F-F1A0488DB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840" y="3185880"/>
            <a:ext cx="2352787" cy="1547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967021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347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算例仿真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27736-D7E1-2E29-B2B1-8137D0858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4" y="1058787"/>
            <a:ext cx="641174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0603390-CF49-2AB2-BD08-0EE26786F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58" y="85310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4EA4D7B-5336-355D-5F8C-C97DF04A4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11078"/>
            <a:ext cx="8784976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CC8C92-55D7-9ABE-79E5-EE02BB7F8320}"/>
              </a:ext>
            </a:extLst>
          </p:cNvPr>
          <p:cNvSpPr txBox="1"/>
          <p:nvPr/>
        </p:nvSpPr>
        <p:spPr>
          <a:xfrm>
            <a:off x="851336" y="842992"/>
            <a:ext cx="2783806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需求响应及算法收敛情况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7119EB-9733-7650-5488-6D513007F9EF}"/>
              </a:ext>
            </a:extLst>
          </p:cNvPr>
          <p:cNvCxnSpPr>
            <a:cxnSpLocks/>
          </p:cNvCxnSpPr>
          <p:nvPr/>
        </p:nvCxnSpPr>
        <p:spPr bwMode="auto">
          <a:xfrm>
            <a:off x="4139952" y="1150769"/>
            <a:ext cx="0" cy="3666356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6DEDCEA-7379-88B8-7B28-5C7A32A1BAC3}"/>
              </a:ext>
            </a:extLst>
          </p:cNvPr>
          <p:cNvSpPr txBox="1"/>
          <p:nvPr/>
        </p:nvSpPr>
        <p:spPr>
          <a:xfrm>
            <a:off x="4535376" y="863648"/>
            <a:ext cx="3784288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多虚拟电厂分布式电能交互情况</a:t>
            </a:r>
          </a:p>
        </p:txBody>
      </p:sp>
      <p:pic>
        <p:nvPicPr>
          <p:cNvPr id="3410" name="Picture 338">
            <a:extLst>
              <a:ext uri="{FF2B5EF4-FFF2-40B4-BE49-F238E27FC236}">
                <a16:creationId xmlns:a16="http://schemas.microsoft.com/office/drawing/2014/main" id="{FF708DFF-FC70-49C5-9466-08C8F2217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56473"/>
            <a:ext cx="2244696" cy="1474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11" name="Picture 339">
            <a:extLst>
              <a:ext uri="{FF2B5EF4-FFF2-40B4-BE49-F238E27FC236}">
                <a16:creationId xmlns:a16="http://schemas.microsoft.com/office/drawing/2014/main" id="{54902482-14DF-41A9-8A65-8D1D093B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818" y="1301513"/>
            <a:ext cx="2106225" cy="1384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12" name="Picture 340">
            <a:extLst>
              <a:ext uri="{FF2B5EF4-FFF2-40B4-BE49-F238E27FC236}">
                <a16:creationId xmlns:a16="http://schemas.microsoft.com/office/drawing/2014/main" id="{3586232C-E1A5-4656-86D4-6FB0B739E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51" y="3335457"/>
            <a:ext cx="2243284" cy="1474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13" name="Picture 341">
            <a:extLst>
              <a:ext uri="{FF2B5EF4-FFF2-40B4-BE49-F238E27FC236}">
                <a16:creationId xmlns:a16="http://schemas.microsoft.com/office/drawing/2014/main" id="{51FBD3B8-342E-400F-897B-04A12C197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591" y="3492145"/>
            <a:ext cx="1980361" cy="130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0F793C7-C0DD-4438-A3B9-B1EA79B4AEBC}"/>
              </a:ext>
            </a:extLst>
          </p:cNvPr>
          <p:cNvSpPr txBox="1"/>
          <p:nvPr/>
        </p:nvSpPr>
        <p:spPr>
          <a:xfrm>
            <a:off x="1037949" y="2863513"/>
            <a:ext cx="2243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负荷、电价、残差、成本</a:t>
            </a:r>
          </a:p>
        </p:txBody>
      </p:sp>
      <p:sp>
        <p:nvSpPr>
          <p:cNvPr id="21" name="Rectangle 345">
            <a:extLst>
              <a:ext uri="{FF2B5EF4-FFF2-40B4-BE49-F238E27FC236}">
                <a16:creationId xmlns:a16="http://schemas.microsoft.com/office/drawing/2014/main" id="{CCB50221-4686-4513-ABFD-81B9C59F540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42264" y="704724"/>
            <a:ext cx="61354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92EBD61-058D-456C-B2E2-A31CB69DC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873332"/>
              </p:ext>
            </p:extLst>
          </p:nvPr>
        </p:nvGraphicFramePr>
        <p:xfrm>
          <a:off x="4158863" y="1205758"/>
          <a:ext cx="2495443" cy="194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2" name="Visio" r:id="rId9" imgW="6162744" imgH="4838713" progId="Visio.Drawing.15">
                  <p:embed/>
                </p:oleObj>
              </mc:Choice>
              <mc:Fallback>
                <p:oleObj name="Visio" r:id="rId9" imgW="6162744" imgH="4838713" progId="Visio.Drawing.15">
                  <p:embed/>
                  <p:pic>
                    <p:nvPicPr>
                      <p:cNvPr id="0" name="Object 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8863" y="1205758"/>
                        <a:ext cx="2495443" cy="19480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47">
            <a:extLst>
              <a:ext uri="{FF2B5EF4-FFF2-40B4-BE49-F238E27FC236}">
                <a16:creationId xmlns:a16="http://schemas.microsoft.com/office/drawing/2014/main" id="{13DB5C0E-FFA4-4616-B68A-6BDA1F42FB7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76344" y="765674"/>
            <a:ext cx="646444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E48C4E8-8643-4A06-B9BC-BC6B205F8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71934"/>
              </p:ext>
            </p:extLst>
          </p:nvPr>
        </p:nvGraphicFramePr>
        <p:xfrm>
          <a:off x="6427569" y="1333566"/>
          <a:ext cx="2608927" cy="1787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3" name="Visio" r:id="rId11" imgW="6353258" imgH="4352861" progId="Visio.Drawing.15">
                  <p:embed/>
                </p:oleObj>
              </mc:Choice>
              <mc:Fallback>
                <p:oleObj name="Visio" r:id="rId11" imgW="6353258" imgH="4352861" progId="Visio.Drawing.15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569" y="1333566"/>
                        <a:ext cx="2608927" cy="1787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49">
            <a:extLst>
              <a:ext uri="{FF2B5EF4-FFF2-40B4-BE49-F238E27FC236}">
                <a16:creationId xmlns:a16="http://schemas.microsoft.com/office/drawing/2014/main" id="{C70D7077-AEF2-488F-8E60-1136D7E5B7E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77153" y="2587307"/>
            <a:ext cx="657339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E2937A7-3D11-4C28-BA3C-2FA8D3C55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657600"/>
              </p:ext>
            </p:extLst>
          </p:nvPr>
        </p:nvGraphicFramePr>
        <p:xfrm>
          <a:off x="4139952" y="3188101"/>
          <a:ext cx="2498289" cy="17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" name="Visio" r:id="rId13" imgW="7343656" imgH="5086504" progId="Visio.Drawing.15">
                  <p:embed/>
                </p:oleObj>
              </mc:Choice>
              <mc:Fallback>
                <p:oleObj name="Visio" r:id="rId13" imgW="7343656" imgH="5086504" progId="Visio.Drawing.15">
                  <p:embed/>
                  <p:pic>
                    <p:nvPicPr>
                      <p:cNvPr id="0" name="Object 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188101"/>
                        <a:ext cx="2498289" cy="1733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22" name="Picture 350">
            <a:extLst>
              <a:ext uri="{FF2B5EF4-FFF2-40B4-BE49-F238E27FC236}">
                <a16:creationId xmlns:a16="http://schemas.microsoft.com/office/drawing/2014/main" id="{09BE424B-5CBF-4CDE-9EA9-E7788C944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414" y="3100641"/>
            <a:ext cx="2683575" cy="1763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289768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>
            <a:extLst>
              <a:ext uri="{FF2B5EF4-FFF2-40B4-BE49-F238E27FC236}">
                <a16:creationId xmlns:a16="http://schemas.microsoft.com/office/drawing/2014/main" id="{D040656F-CF73-F604-A855-93A57F05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>
            <a:extLst>
              <a:ext uri="{FF2B5EF4-FFF2-40B4-BE49-F238E27FC236}">
                <a16:creationId xmlns:a16="http://schemas.microsoft.com/office/drawing/2014/main" id="{75FF6B11-9DE9-C7E8-0447-45139FF9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46E425A0-5C89-1D43-55D5-96D0CAD4D533}"/>
              </a:ext>
            </a:extLst>
          </p:cNvPr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>
              <a:extLst>
                <a:ext uri="{FF2B5EF4-FFF2-40B4-BE49-F238E27FC236}">
                  <a16:creationId xmlns:a16="http://schemas.microsoft.com/office/drawing/2014/main" id="{9582CB73-E242-ED3A-E23E-860D01EE4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617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299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研究内容二</a:t>
              </a:r>
            </a:p>
          </p:txBody>
        </p:sp>
        <p:grpSp>
          <p:nvGrpSpPr>
            <p:cNvPr id="25605" name="组合 4">
              <a:extLst>
                <a:ext uri="{FF2B5EF4-FFF2-40B4-BE49-F238E27FC236}">
                  <a16:creationId xmlns:a16="http://schemas.microsoft.com/office/drawing/2014/main" id="{5DA013B6-269F-3A9A-0884-F8B283621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9B482FD-6036-7D20-6101-B5181A383FBD}"/>
                  </a:ext>
                </a:extLst>
              </p:cNvPr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61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>
                <a:extLst>
                  <a:ext uri="{FF2B5EF4-FFF2-40B4-BE49-F238E27FC236}">
                    <a16:creationId xmlns:a16="http://schemas.microsoft.com/office/drawing/2014/main" id="{65837C08-DDE0-0B94-BE53-E900885C48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617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02AE114-6B97-B281-54C5-74D4B6D2D1E4}"/>
              </a:ext>
            </a:extLst>
          </p:cNvPr>
          <p:cNvSpPr txBox="1"/>
          <p:nvPr/>
        </p:nvSpPr>
        <p:spPr>
          <a:xfrm>
            <a:off x="1699928" y="2498948"/>
            <a:ext cx="6534472" cy="110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多虚拟电厂</a:t>
            </a:r>
            <a:r>
              <a:rPr lang="en-US" altLang="zh-CN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云储能的低碳</a:t>
            </a:r>
            <a:endParaRPr lang="en-US" altLang="zh-CN" sz="3299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混合博弈研究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336883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40421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34105" y="234387"/>
            <a:ext cx="5037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配电网架构下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CSO-MVPP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系统结构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31DC5B-1BFB-B126-09A7-F50AC0D6D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1" y="11164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52069F-771B-4FA1-A96F-228176F2D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96" y="1024429"/>
            <a:ext cx="4160504" cy="381860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52D9200-8D8F-4C8C-9683-5B88C4116E88}"/>
              </a:ext>
            </a:extLst>
          </p:cNvPr>
          <p:cNvSpPr txBox="1"/>
          <p:nvPr/>
        </p:nvSpPr>
        <p:spPr>
          <a:xfrm>
            <a:off x="5140538" y="2167821"/>
            <a:ext cx="2783806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b="1" dirty="0"/>
              <a:t>VPP</a:t>
            </a:r>
            <a:r>
              <a:rPr lang="zh-CN" altLang="en-US" sz="1400" b="1" dirty="0"/>
              <a:t>碳交易计算模型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59B2A5E-1494-4A95-9DAE-E8F20C100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635559"/>
              </p:ext>
            </p:extLst>
          </p:nvPr>
        </p:nvGraphicFramePr>
        <p:xfrm>
          <a:off x="4630048" y="3185166"/>
          <a:ext cx="4146755" cy="307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" name="Equation" r:id="rId6" imgW="3251160" imgH="241200" progId="Equation.DSMT4">
                  <p:embed/>
                </p:oleObj>
              </mc:Choice>
              <mc:Fallback>
                <p:oleObj name="Equation" r:id="rId6" imgW="3251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30048" y="3185166"/>
                        <a:ext cx="4146755" cy="307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24FCA33D-EE89-4DF2-9EDE-B7B9345AF934}"/>
              </a:ext>
            </a:extLst>
          </p:cNvPr>
          <p:cNvSpPr txBox="1"/>
          <p:nvPr/>
        </p:nvSpPr>
        <p:spPr>
          <a:xfrm>
            <a:off x="4674376" y="2658483"/>
            <a:ext cx="1322253" cy="37202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无偿碳配额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93802A3-1301-4283-B8EF-42398122D259}"/>
              </a:ext>
            </a:extLst>
          </p:cNvPr>
          <p:cNvSpPr txBox="1"/>
          <p:nvPr/>
        </p:nvSpPr>
        <p:spPr>
          <a:xfrm>
            <a:off x="4679108" y="3653401"/>
            <a:ext cx="1322253" cy="37202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实际碳排放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6601A47-D653-4136-AE44-05C9E49673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235604"/>
              </p:ext>
            </p:extLst>
          </p:nvPr>
        </p:nvGraphicFramePr>
        <p:xfrm>
          <a:off x="4644008" y="4177612"/>
          <a:ext cx="2462136" cy="307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3" name="Equation" r:id="rId8" imgW="1904302" imgH="237952" progId="Equation.DSMT4">
                  <p:embed/>
                </p:oleObj>
              </mc:Choice>
              <mc:Fallback>
                <p:oleObj name="Equation" r:id="rId8" imgW="1904302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44008" y="4177612"/>
                        <a:ext cx="2462136" cy="307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箭头: 右弧形 29">
            <a:extLst>
              <a:ext uri="{FF2B5EF4-FFF2-40B4-BE49-F238E27FC236}">
                <a16:creationId xmlns:a16="http://schemas.microsoft.com/office/drawing/2014/main" id="{CD7E075B-7940-4945-8FA0-2E4317FFDD5D}"/>
              </a:ext>
            </a:extLst>
          </p:cNvPr>
          <p:cNvSpPr/>
          <p:nvPr/>
        </p:nvSpPr>
        <p:spPr>
          <a:xfrm>
            <a:off x="7924344" y="3491235"/>
            <a:ext cx="248056" cy="30776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1FCBF4-96D9-4B95-BC49-610232C00582}"/>
              </a:ext>
            </a:extLst>
          </p:cNvPr>
          <p:cNvSpPr txBox="1"/>
          <p:nvPr/>
        </p:nvSpPr>
        <p:spPr>
          <a:xfrm>
            <a:off x="7272040" y="3820581"/>
            <a:ext cx="1469287" cy="60632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碳排放来源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WIPP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CCS</a:t>
            </a:r>
            <a:endParaRPr lang="zh-CN" altLang="zh-CN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上弧形 30">
            <a:extLst>
              <a:ext uri="{FF2B5EF4-FFF2-40B4-BE49-F238E27FC236}">
                <a16:creationId xmlns:a16="http://schemas.microsoft.com/office/drawing/2014/main" id="{3F5CCBB4-7DB4-41A5-B430-98908E9FD52D}"/>
              </a:ext>
            </a:extLst>
          </p:cNvPr>
          <p:cNvSpPr/>
          <p:nvPr/>
        </p:nvSpPr>
        <p:spPr>
          <a:xfrm>
            <a:off x="6894829" y="4007306"/>
            <a:ext cx="360040" cy="21506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86FAF2-4453-417B-8AF5-11A0E5525303}"/>
              </a:ext>
            </a:extLst>
          </p:cNvPr>
          <p:cNvSpPr txBox="1"/>
          <p:nvPr/>
        </p:nvSpPr>
        <p:spPr>
          <a:xfrm>
            <a:off x="4459063" y="1103517"/>
            <a:ext cx="4282264" cy="88601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参与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共享和电热交易的利益主体包括上级电网、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的进行能量交互，确保其内部负荷需求得到满足。</a:t>
            </a:r>
          </a:p>
        </p:txBody>
      </p:sp>
    </p:spTree>
    <p:extLst>
      <p:ext uri="{BB962C8B-B14F-4D97-AF65-F5344CB8AC3E}">
        <p14:creationId xmlns:p14="http://schemas.microsoft.com/office/powerpoint/2010/main" val="160493724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07504" y="848238"/>
            <a:ext cx="8928992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5715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CSO-MVPP-MVPP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内部混合博弈模型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A2DE220E-AB1E-6DED-F636-D3B83853D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D88CF140-D522-9B4D-2D3B-73F86312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214E8A-549A-4B92-8216-E87B10C4B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12" y="1764172"/>
            <a:ext cx="4373120" cy="26908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8030954-2167-4EED-8A75-DE5BA63B3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172" y="920697"/>
            <a:ext cx="3751084" cy="353183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0709848-C0EA-46B8-A71B-0F2907433FC3}"/>
              </a:ext>
            </a:extLst>
          </p:cNvPr>
          <p:cNvSpPr txBox="1"/>
          <p:nvPr/>
        </p:nvSpPr>
        <p:spPr>
          <a:xfrm>
            <a:off x="755576" y="4541409"/>
            <a:ext cx="3312368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配电网架构下</a:t>
            </a:r>
            <a:r>
              <a:rPr lang="en-US" altLang="zh-CN" sz="1400" b="1" dirty="0"/>
              <a:t>CSO-MVPP</a:t>
            </a:r>
            <a:r>
              <a:rPr lang="zh-CN" altLang="en-US" sz="1400" b="1" dirty="0"/>
              <a:t>主从博弈模型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377F3D-7589-49E8-BB97-04790FD4510A}"/>
              </a:ext>
            </a:extLst>
          </p:cNvPr>
          <p:cNvSpPr txBox="1"/>
          <p:nvPr/>
        </p:nvSpPr>
        <p:spPr>
          <a:xfrm>
            <a:off x="5292080" y="4541408"/>
            <a:ext cx="3312368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b="1" dirty="0"/>
              <a:t>CSO-MVPP</a:t>
            </a:r>
            <a:r>
              <a:rPr lang="zh-CN" altLang="en-US" sz="1400" b="1" dirty="0"/>
              <a:t>混合博弈双层能量模型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10AFA1C-3AFD-43E0-842C-E77A162E8A59}"/>
              </a:ext>
            </a:extLst>
          </p:cNvPr>
          <p:cNvSpPr txBox="1"/>
          <p:nvPr/>
        </p:nvSpPr>
        <p:spPr>
          <a:xfrm>
            <a:off x="198880" y="992639"/>
            <a:ext cx="4661152" cy="6875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电热需求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P2P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交易结果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进行电热优化，并将求解得到的电热价格传递给各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传递的信息制定最新的内部优化调度策略和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P2P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交易策略。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5719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560687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46099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8406" y="270144"/>
            <a:ext cx="5559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多虚拟电厂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云储能的低碳混合博弈模型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6F35A3-0FA4-42F2-A13C-1957D4250CAC}"/>
              </a:ext>
            </a:extLst>
          </p:cNvPr>
          <p:cNvSpPr/>
          <p:nvPr/>
        </p:nvSpPr>
        <p:spPr>
          <a:xfrm>
            <a:off x="467545" y="1003247"/>
            <a:ext cx="8208912" cy="1782827"/>
          </a:xfrm>
          <a:prstGeom prst="rect">
            <a:avLst/>
          </a:prstGeom>
          <a:solidFill>
            <a:srgbClr val="DEEBF6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CSO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优化模型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目标函数：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5B0A208-FF51-46FC-9083-CC4A4F7D482A}"/>
              </a:ext>
            </a:extLst>
          </p:cNvPr>
          <p:cNvSpPr/>
          <p:nvPr/>
        </p:nvSpPr>
        <p:spPr>
          <a:xfrm>
            <a:off x="467545" y="2929624"/>
            <a:ext cx="8208911" cy="1942145"/>
          </a:xfrm>
          <a:prstGeom prst="rect">
            <a:avLst/>
          </a:prstGeom>
          <a:solidFill>
            <a:srgbClr val="FFFAE8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MVPP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优化模型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目标函数：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57EF4B2-90B8-4EE4-B16B-2E9710731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68366"/>
              </p:ext>
            </p:extLst>
          </p:nvPr>
        </p:nvGraphicFramePr>
        <p:xfrm>
          <a:off x="1619672" y="1414714"/>
          <a:ext cx="2700362" cy="394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1" name="Equation" r:id="rId5" imgW="2084944" imgH="304909" progId="Equation.DSMT4">
                  <p:embed/>
                </p:oleObj>
              </mc:Choice>
              <mc:Fallback>
                <p:oleObj name="Equation" r:id="rId5" imgW="2084944" imgH="3049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1414714"/>
                        <a:ext cx="2700362" cy="394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ACFCFF4-EFBF-41CC-961E-E4D8B2563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418359"/>
              </p:ext>
            </p:extLst>
          </p:nvPr>
        </p:nvGraphicFramePr>
        <p:xfrm>
          <a:off x="595083" y="1744034"/>
          <a:ext cx="7041920" cy="394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2" name="Equation" r:id="rId7" imgW="5435280" imgH="304560" progId="Equation.DSMT4">
                  <p:embed/>
                </p:oleObj>
              </mc:Choice>
              <mc:Fallback>
                <p:oleObj name="Equation" r:id="rId7" imgW="54352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083" y="1744034"/>
                        <a:ext cx="7041920" cy="394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9744B2-DEC0-4B9B-A761-AA33EC143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511483"/>
              </p:ext>
            </p:extLst>
          </p:nvPr>
        </p:nvGraphicFramePr>
        <p:xfrm>
          <a:off x="595083" y="2104074"/>
          <a:ext cx="4674732" cy="394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3" name="Equation" r:id="rId9" imgW="3608530" imgH="304909" progId="Equation.DSMT4">
                  <p:embed/>
                </p:oleObj>
              </mc:Choice>
              <mc:Fallback>
                <p:oleObj name="Equation" r:id="rId9" imgW="3608530" imgH="3049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083" y="2104074"/>
                        <a:ext cx="4674732" cy="394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600056C-0380-4971-A44F-59442239E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292238"/>
              </p:ext>
            </p:extLst>
          </p:nvPr>
        </p:nvGraphicFramePr>
        <p:xfrm>
          <a:off x="587111" y="2453661"/>
          <a:ext cx="2877656" cy="33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4" name="Equation" r:id="rId11" imgW="2056517" imgH="237952" progId="Equation.DSMT4">
                  <p:embed/>
                </p:oleObj>
              </mc:Choice>
              <mc:Fallback>
                <p:oleObj name="Equation" r:id="rId11" imgW="2056517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7111" y="2453661"/>
                        <a:ext cx="2877656" cy="333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A20C661-B8B6-425F-AD0F-17D5CA7AF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404898"/>
              </p:ext>
            </p:extLst>
          </p:nvPr>
        </p:nvGraphicFramePr>
        <p:xfrm>
          <a:off x="1475656" y="3344896"/>
          <a:ext cx="4960374" cy="37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5" name="Equation" r:id="rId13" imgW="4122389" imgH="314269" progId="Equation.DSMT4">
                  <p:embed/>
                </p:oleObj>
              </mc:Choice>
              <mc:Fallback>
                <p:oleObj name="Equation" r:id="rId13" imgW="4122389" imgH="31426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5656" y="3344896"/>
                        <a:ext cx="4960374" cy="378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81E9851-78C3-45AF-8B04-A10515E28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718859"/>
              </p:ext>
            </p:extLst>
          </p:nvPr>
        </p:nvGraphicFramePr>
        <p:xfrm>
          <a:off x="679866" y="3764280"/>
          <a:ext cx="2422065" cy="378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6" name="Equation" r:id="rId15" imgW="1951802" imgH="304909" progId="Equation.DSMT4">
                  <p:embed/>
                </p:oleObj>
              </mc:Choice>
              <mc:Fallback>
                <p:oleObj name="Equation" r:id="rId15" imgW="1951802" imgH="3049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9866" y="3764280"/>
                        <a:ext cx="2422065" cy="378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8AD1579-21A7-4AE9-A31A-751DD911D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252327"/>
              </p:ext>
            </p:extLst>
          </p:nvPr>
        </p:nvGraphicFramePr>
        <p:xfrm>
          <a:off x="3314252" y="3797193"/>
          <a:ext cx="2237899" cy="30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7" name="Equation" r:id="rId17" imgW="1751728" imgH="237952" progId="Equation.DSMT4">
                  <p:embed/>
                </p:oleObj>
              </mc:Choice>
              <mc:Fallback>
                <p:oleObj name="Equation" r:id="rId17" imgW="1751728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4252" y="3797193"/>
                        <a:ext cx="2237899" cy="30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707CE8E-3795-4526-9A0F-11839F455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80645"/>
              </p:ext>
            </p:extLst>
          </p:nvPr>
        </p:nvGraphicFramePr>
        <p:xfrm>
          <a:off x="5734431" y="3821100"/>
          <a:ext cx="1902572" cy="28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8" name="Equation" r:id="rId19" imgW="1590157" imgH="237952" progId="Equation.DSMT4">
                  <p:embed/>
                </p:oleObj>
              </mc:Choice>
              <mc:Fallback>
                <p:oleObj name="Equation" r:id="rId19" imgW="1590157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34431" y="3821100"/>
                        <a:ext cx="1902572" cy="284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AEDB5F1-4886-4623-BCD4-F494DEC3E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958399"/>
              </p:ext>
            </p:extLst>
          </p:nvPr>
        </p:nvGraphicFramePr>
        <p:xfrm>
          <a:off x="692814" y="4236488"/>
          <a:ext cx="2060049" cy="29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9" name="Equation" r:id="rId21" imgW="1685156" imgH="237952" progId="Equation.DSMT4">
                  <p:embed/>
                </p:oleObj>
              </mc:Choice>
              <mc:Fallback>
                <p:oleObj name="Equation" r:id="rId21" imgW="1685156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2814" y="4236488"/>
                        <a:ext cx="2060049" cy="2909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3ECB1B0-BCF2-4A89-B34E-2E9D37992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776507"/>
              </p:ext>
            </p:extLst>
          </p:nvPr>
        </p:nvGraphicFramePr>
        <p:xfrm>
          <a:off x="3330334" y="4222535"/>
          <a:ext cx="1212165" cy="28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20" name="Equation" r:id="rId23" imgW="1028438" imgH="237952" progId="Equation.DSMT4">
                  <p:embed/>
                </p:oleObj>
              </mc:Choice>
              <mc:Fallback>
                <p:oleObj name="Equation" r:id="rId23" imgW="1028438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30334" y="4222535"/>
                        <a:ext cx="1212165" cy="280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82A841A-0781-447E-B404-53BA5FC43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46835"/>
              </p:ext>
            </p:extLst>
          </p:nvPr>
        </p:nvGraphicFramePr>
        <p:xfrm>
          <a:off x="654891" y="4520719"/>
          <a:ext cx="5781139" cy="301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21" name="Equation" r:id="rId25" imgW="4876560" imgH="253800" progId="Equation.DSMT4">
                  <p:embed/>
                </p:oleObj>
              </mc:Choice>
              <mc:Fallback>
                <p:oleObj name="Equation" r:id="rId25" imgW="4876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4891" y="4520719"/>
                        <a:ext cx="5781139" cy="301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495774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592" y="152927"/>
            <a:ext cx="3026962" cy="607205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5066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混合博弈双层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模型分布式求解方法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52CD8-202F-ECBE-4383-B7D1726A3FFB}"/>
              </a:ext>
            </a:extLst>
          </p:cNvPr>
          <p:cNvSpPr txBox="1"/>
          <p:nvPr/>
        </p:nvSpPr>
        <p:spPr>
          <a:xfrm>
            <a:off x="5004048" y="3348524"/>
            <a:ext cx="3783001" cy="14562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混合博弈双层优化问题求解流程，阶段一通过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YALMIP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lang="en-US" altLang="zh-CN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CPLEX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求解，通过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遗传算法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进行循环迭代，动态更新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的售电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热价格、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购售电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热量及机组优化结果和成员间能量交易量，并将结果输入阶段二，通过</a:t>
            </a:r>
            <a:r>
              <a:rPr lang="en-US" altLang="zh-CN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ADMM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间电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热能交易价格，优化能量交易量。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27EFD5-DC42-DD15-9D81-968184914B5B}"/>
              </a:ext>
            </a:extLst>
          </p:cNvPr>
          <p:cNvSpPr txBox="1"/>
          <p:nvPr/>
        </p:nvSpPr>
        <p:spPr>
          <a:xfrm>
            <a:off x="5006549" y="999467"/>
            <a:ext cx="3587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 </a:t>
            </a:r>
            <a:r>
              <a:rPr lang="en-US" altLang="zh-CN" sz="1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的分布式优化模型分解为以下形式：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694804-0FE5-4276-B348-E6D70530F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51" y="1065508"/>
            <a:ext cx="4456492" cy="3814213"/>
          </a:xfrm>
          <a:prstGeom prst="rect">
            <a:avLst/>
          </a:prstGeom>
        </p:spPr>
      </p:pic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C85B2D8-8F3B-4FF9-B40F-1C7674665D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685136"/>
              </p:ext>
            </p:extLst>
          </p:nvPr>
        </p:nvGraphicFramePr>
        <p:xfrm>
          <a:off x="5004048" y="1418180"/>
          <a:ext cx="3283274" cy="177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1" name="Equation" r:id="rId6" imgW="2675451" imgH="1447869" progId="Equation.DSMT4">
                  <p:embed/>
                </p:oleObj>
              </mc:Choice>
              <mc:Fallback>
                <p:oleObj name="Equation" r:id="rId6" imgW="2675451" imgH="144786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04048" y="1418180"/>
                        <a:ext cx="3283274" cy="1777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194667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2847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场景设置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6F35A3-0FA4-42F2-A13C-1957D4250CAC}"/>
              </a:ext>
            </a:extLst>
          </p:cNvPr>
          <p:cNvSpPr/>
          <p:nvPr/>
        </p:nvSpPr>
        <p:spPr>
          <a:xfrm>
            <a:off x="4572000" y="1085475"/>
            <a:ext cx="4110530" cy="2133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以某地区电网实际网架为基础结构，搭建由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构成的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系统，设置每个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中均包含一个风电厂、一个光电场和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机组，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VPP1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中设置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。为检验模型的有效性和适用性，对比分析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中引入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主从博弈、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内部的合作博弈、碳交易及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CCS-WIPP-RES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协同运行对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成本的影响，设置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种场景。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33172-71B5-1FDE-1256-C71CA1639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724" y="-339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9CCF86-E005-4736-A5B8-2DC8C0D3B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84" y="1075598"/>
            <a:ext cx="4253716" cy="3831927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D1AC8F4-9ED0-461D-A4BC-9FED4D6B3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521611"/>
              </p:ext>
            </p:extLst>
          </p:nvPr>
        </p:nvGraphicFramePr>
        <p:xfrm>
          <a:off x="4585055" y="3371214"/>
          <a:ext cx="4097475" cy="1534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495">
                  <a:extLst>
                    <a:ext uri="{9D8B030D-6E8A-4147-A177-3AD203B41FA5}">
                      <a16:colId xmlns:a16="http://schemas.microsoft.com/office/drawing/2014/main" val="3486991185"/>
                    </a:ext>
                  </a:extLst>
                </a:gridCol>
                <a:gridCol w="819495">
                  <a:extLst>
                    <a:ext uri="{9D8B030D-6E8A-4147-A177-3AD203B41FA5}">
                      <a16:colId xmlns:a16="http://schemas.microsoft.com/office/drawing/2014/main" val="675822359"/>
                    </a:ext>
                  </a:extLst>
                </a:gridCol>
                <a:gridCol w="819495">
                  <a:extLst>
                    <a:ext uri="{9D8B030D-6E8A-4147-A177-3AD203B41FA5}">
                      <a16:colId xmlns:a16="http://schemas.microsoft.com/office/drawing/2014/main" val="4234607011"/>
                    </a:ext>
                  </a:extLst>
                </a:gridCol>
                <a:gridCol w="819495">
                  <a:extLst>
                    <a:ext uri="{9D8B030D-6E8A-4147-A177-3AD203B41FA5}">
                      <a16:colId xmlns:a16="http://schemas.microsoft.com/office/drawing/2014/main" val="3537795935"/>
                    </a:ext>
                  </a:extLst>
                </a:gridCol>
                <a:gridCol w="819495">
                  <a:extLst>
                    <a:ext uri="{9D8B030D-6E8A-4147-A177-3AD203B41FA5}">
                      <a16:colId xmlns:a16="http://schemas.microsoft.com/office/drawing/2014/main" val="1652661103"/>
                    </a:ext>
                  </a:extLst>
                </a:gridCol>
              </a:tblGrid>
              <a:tr h="3068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场景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合作博弈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主从博弈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云储能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碳交易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6164827"/>
                  </a:ext>
                </a:extLst>
              </a:tr>
              <a:tr h="3068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304800"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847388"/>
                  </a:ext>
                </a:extLst>
              </a:tr>
              <a:tr h="3068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304800"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8955339"/>
                  </a:ext>
                </a:extLst>
              </a:tr>
              <a:tr h="3068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6836176"/>
                  </a:ext>
                </a:extLst>
              </a:tr>
              <a:tr h="3068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sym typeface="Wingdings 2" panose="05020102010507070707" pitchFamily="18" charset="2"/>
                        </a:rPr>
                        <a:t>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650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2005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13158" y="848238"/>
            <a:ext cx="8923337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592" y="152927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5066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电热迭代价格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FD0C00-A03B-0A64-F603-67443D868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406" name="Picture 190" descr="Graph2">
            <a:extLst>
              <a:ext uri="{FF2B5EF4-FFF2-40B4-BE49-F238E27FC236}">
                <a16:creationId xmlns:a16="http://schemas.microsoft.com/office/drawing/2014/main" id="{FE38AEBF-46A3-4EF5-BE55-A98A69732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4" y="2042599"/>
            <a:ext cx="3228975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07" name="Picture 191">
            <a:extLst>
              <a:ext uri="{FF2B5EF4-FFF2-40B4-BE49-F238E27FC236}">
                <a16:creationId xmlns:a16="http://schemas.microsoft.com/office/drawing/2014/main" id="{814D3772-455A-4F31-A312-3164871CC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250" y="2264850"/>
            <a:ext cx="3068638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08" name="Picture 192">
            <a:extLst>
              <a:ext uri="{FF2B5EF4-FFF2-40B4-BE49-F238E27FC236}">
                <a16:creationId xmlns:a16="http://schemas.microsoft.com/office/drawing/2014/main" id="{77590196-44E2-4FA6-B83D-B7C733CB5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693" y="2256634"/>
            <a:ext cx="3100388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B1B6177-9374-47DB-A1CE-4596679CDB28}"/>
              </a:ext>
            </a:extLst>
          </p:cNvPr>
          <p:cNvSpPr txBox="1"/>
          <p:nvPr/>
        </p:nvSpPr>
        <p:spPr>
          <a:xfrm>
            <a:off x="497265" y="4546441"/>
            <a:ext cx="2058999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新能源出力及负荷曲线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3B917F-3757-476A-B3BF-F99202990436}"/>
              </a:ext>
            </a:extLst>
          </p:cNvPr>
          <p:cNvSpPr txBox="1"/>
          <p:nvPr/>
        </p:nvSpPr>
        <p:spPr>
          <a:xfrm>
            <a:off x="3737380" y="4546441"/>
            <a:ext cx="2058999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电能交易价格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48812A4-2166-403E-88C0-A12C43D2DCD5}"/>
              </a:ext>
            </a:extLst>
          </p:cNvPr>
          <p:cNvSpPr txBox="1"/>
          <p:nvPr/>
        </p:nvSpPr>
        <p:spPr>
          <a:xfrm>
            <a:off x="6587736" y="4546440"/>
            <a:ext cx="2058999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热电能交易价格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B3E1C5-0FCE-4557-84B1-A36565EE2EBD}"/>
              </a:ext>
            </a:extLst>
          </p:cNvPr>
          <p:cNvSpPr/>
          <p:nvPr/>
        </p:nvSpPr>
        <p:spPr>
          <a:xfrm>
            <a:off x="208400" y="1130796"/>
            <a:ext cx="8701220" cy="615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由电能交易价格结果可知，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之间的电价低于与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交互的电价，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交互的电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热价低于与电网交互的电价，这种阶梯式的价格差异形成了明确的经济激励导向。</a:t>
            </a:r>
          </a:p>
        </p:txBody>
      </p:sp>
    </p:spTree>
    <p:extLst>
      <p:ext uri="{BB962C8B-B14F-4D97-AF65-F5344CB8AC3E}">
        <p14:creationId xmlns:p14="http://schemas.microsoft.com/office/powerpoint/2010/main" val="578768154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75744" y="848238"/>
            <a:ext cx="847272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434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成本、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CSO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1988818-BC49-5A3E-6A10-F8BE93BB2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35DD40BB-2E3D-3328-B9EE-8A8200923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419A2C09-A5B4-E1B7-EDB8-A789E945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C1A0A868-CEAF-3A8E-875F-C33CD371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8DC2961F-400B-7C01-C830-ECA52489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026" name="Picture 786">
            <a:extLst>
              <a:ext uri="{FF2B5EF4-FFF2-40B4-BE49-F238E27FC236}">
                <a16:creationId xmlns:a16="http://schemas.microsoft.com/office/drawing/2014/main" id="{7B2CB82C-8BE1-413E-8665-13A92DB35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38648"/>
            <a:ext cx="2647950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27" name="Picture 787">
            <a:extLst>
              <a:ext uri="{FF2B5EF4-FFF2-40B4-BE49-F238E27FC236}">
                <a16:creationId xmlns:a16="http://schemas.microsoft.com/office/drawing/2014/main" id="{3E336B10-9695-40B3-BBA6-E87B5424F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047018"/>
            <a:ext cx="2647950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28" name="Picture 788">
            <a:extLst>
              <a:ext uri="{FF2B5EF4-FFF2-40B4-BE49-F238E27FC236}">
                <a16:creationId xmlns:a16="http://schemas.microsoft.com/office/drawing/2014/main" id="{BC8385A8-E3BC-4024-A2D9-C27647985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14" y="2976092"/>
            <a:ext cx="2647950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29" name="Picture 789">
            <a:extLst>
              <a:ext uri="{FF2B5EF4-FFF2-40B4-BE49-F238E27FC236}">
                <a16:creationId xmlns:a16="http://schemas.microsoft.com/office/drawing/2014/main" id="{C1284D4A-62E8-40A2-8543-A85AE78F7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344" y="3024753"/>
            <a:ext cx="2647950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A7350C6-9209-40E2-B65A-5DC1A44C3C7D}"/>
              </a:ext>
            </a:extLst>
          </p:cNvPr>
          <p:cNvSpPr txBox="1"/>
          <p:nvPr/>
        </p:nvSpPr>
        <p:spPr>
          <a:xfrm>
            <a:off x="1339264" y="2780135"/>
            <a:ext cx="917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VPP1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4B713A6-B046-4B03-9218-BE6C58A53988}"/>
              </a:ext>
            </a:extLst>
          </p:cNvPr>
          <p:cNvSpPr txBox="1"/>
          <p:nvPr/>
        </p:nvSpPr>
        <p:spPr>
          <a:xfrm>
            <a:off x="3812385" y="2780135"/>
            <a:ext cx="917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VPP2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F286C57-6135-4E27-A165-E809500FA9CA}"/>
              </a:ext>
            </a:extLst>
          </p:cNvPr>
          <p:cNvSpPr txBox="1"/>
          <p:nvPr/>
        </p:nvSpPr>
        <p:spPr>
          <a:xfrm>
            <a:off x="1312798" y="4742229"/>
            <a:ext cx="917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VPP3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DA14DDB-D959-4317-A82B-70C65A3C6732}"/>
              </a:ext>
            </a:extLst>
          </p:cNvPr>
          <p:cNvSpPr txBox="1"/>
          <p:nvPr/>
        </p:nvSpPr>
        <p:spPr>
          <a:xfrm>
            <a:off x="3812385" y="4742229"/>
            <a:ext cx="917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CSO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收益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48BA2A-9E53-4E01-AA21-BCBB69B4C712}"/>
              </a:ext>
            </a:extLst>
          </p:cNvPr>
          <p:cNvSpPr/>
          <p:nvPr/>
        </p:nvSpPr>
        <p:spPr>
          <a:xfrm>
            <a:off x="5529114" y="1012534"/>
            <a:ext cx="3154839" cy="16294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通过对比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种场景下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成本及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收益迭代收敛过程，场景三在上述运行方案中迭代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45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次，证明本文使用的遗传算法结合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ADMM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能够有效减少迭代次数与时间。</a:t>
            </a:r>
          </a:p>
        </p:txBody>
      </p:sp>
      <p:sp>
        <p:nvSpPr>
          <p:cNvPr id="19" name="Rectangle 791">
            <a:extLst>
              <a:ext uri="{FF2B5EF4-FFF2-40B4-BE49-F238E27FC236}">
                <a16:creationId xmlns:a16="http://schemas.microsoft.com/office/drawing/2014/main" id="{5531395C-0A90-48CF-B625-ED50539FE39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98466" y="2129095"/>
            <a:ext cx="661408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3CFF8A2-0CC3-4F69-B60C-63C4D6D33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871666"/>
              </p:ext>
            </p:extLst>
          </p:nvPr>
        </p:nvGraphicFramePr>
        <p:xfrm>
          <a:off x="5498466" y="2699208"/>
          <a:ext cx="3159609" cy="2103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1" name="Visio" r:id="rId9" imgW="6343542" imgH="4219408" progId="Visio.Drawing.15">
                  <p:embed/>
                </p:oleObj>
              </mc:Choice>
              <mc:Fallback>
                <p:oleObj name="Visio" r:id="rId9" imgW="6343542" imgH="4219408" progId="Visio.Drawing.15">
                  <p:embed/>
                  <p:pic>
                    <p:nvPicPr>
                      <p:cNvPr id="0" name="Object 7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466" y="2699208"/>
                        <a:ext cx="3159609" cy="2103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517C17E-2EE6-4D27-8776-ED5191D933B1}"/>
              </a:ext>
            </a:extLst>
          </p:cNvPr>
          <p:cNvSpPr txBox="1"/>
          <p:nvPr/>
        </p:nvSpPr>
        <p:spPr>
          <a:xfrm>
            <a:off x="6300192" y="4742229"/>
            <a:ext cx="1894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CSO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容量与电能交互情况</a:t>
            </a:r>
          </a:p>
        </p:txBody>
      </p:sp>
    </p:spTree>
    <p:extLst>
      <p:ext uri="{BB962C8B-B14F-4D97-AF65-F5344CB8AC3E}">
        <p14:creationId xmlns:p14="http://schemas.microsoft.com/office/powerpoint/2010/main" val="123375080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539552" y="848238"/>
            <a:ext cx="8064896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6" y="234387"/>
            <a:ext cx="3549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成本分配情况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F701E7-CEFA-7F21-28B4-27C7594D4D01}"/>
              </a:ext>
            </a:extLst>
          </p:cNvPr>
          <p:cNvSpPr txBox="1"/>
          <p:nvPr/>
        </p:nvSpPr>
        <p:spPr>
          <a:xfrm>
            <a:off x="5814007" y="3457877"/>
            <a:ext cx="2583898" cy="143475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仅在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中设置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WIPP+CCS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，使得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的收益比其他两个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多，碳排放少，相比于场景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，本文所提方法中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的收益降低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2941.8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元，这是因为在考虑混合博弈后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的交互减少使得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的收益降低；由于场景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未参与碳交易市场，其成本较本文所提算法场景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高，且因缺乏碳排放约束，场景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的碳排放量比场景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高。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7F47AC7-0B3A-44A0-9EAC-DA1987A5F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195207"/>
              </p:ext>
            </p:extLst>
          </p:nvPr>
        </p:nvGraphicFramePr>
        <p:xfrm>
          <a:off x="688960" y="992715"/>
          <a:ext cx="7708945" cy="23609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9507">
                  <a:extLst>
                    <a:ext uri="{9D8B030D-6E8A-4147-A177-3AD203B41FA5}">
                      <a16:colId xmlns:a16="http://schemas.microsoft.com/office/drawing/2014/main" val="1169259218"/>
                    </a:ext>
                  </a:extLst>
                </a:gridCol>
                <a:gridCol w="994703">
                  <a:extLst>
                    <a:ext uri="{9D8B030D-6E8A-4147-A177-3AD203B41FA5}">
                      <a16:colId xmlns:a16="http://schemas.microsoft.com/office/drawing/2014/main" val="133166402"/>
                    </a:ext>
                  </a:extLst>
                </a:gridCol>
                <a:gridCol w="994703">
                  <a:extLst>
                    <a:ext uri="{9D8B030D-6E8A-4147-A177-3AD203B41FA5}">
                      <a16:colId xmlns:a16="http://schemas.microsoft.com/office/drawing/2014/main" val="782692565"/>
                    </a:ext>
                  </a:extLst>
                </a:gridCol>
                <a:gridCol w="1389966">
                  <a:extLst>
                    <a:ext uri="{9D8B030D-6E8A-4147-A177-3AD203B41FA5}">
                      <a16:colId xmlns:a16="http://schemas.microsoft.com/office/drawing/2014/main" val="253581220"/>
                    </a:ext>
                  </a:extLst>
                </a:gridCol>
                <a:gridCol w="1389966">
                  <a:extLst>
                    <a:ext uri="{9D8B030D-6E8A-4147-A177-3AD203B41FA5}">
                      <a16:colId xmlns:a16="http://schemas.microsoft.com/office/drawing/2014/main" val="871931987"/>
                    </a:ext>
                  </a:extLst>
                </a:gridCol>
                <a:gridCol w="1207604">
                  <a:extLst>
                    <a:ext uri="{9D8B030D-6E8A-4147-A177-3AD203B41FA5}">
                      <a16:colId xmlns:a16="http://schemas.microsoft.com/office/drawing/2014/main" val="2411278545"/>
                    </a:ext>
                  </a:extLst>
                </a:gridCol>
                <a:gridCol w="1112496">
                  <a:extLst>
                    <a:ext uri="{9D8B030D-6E8A-4147-A177-3AD203B41FA5}">
                      <a16:colId xmlns:a16="http://schemas.microsoft.com/office/drawing/2014/main" val="2600090440"/>
                    </a:ext>
                  </a:extLst>
                </a:gridCol>
              </a:tblGrid>
              <a:tr h="2232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场景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VPP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CSO</a:t>
                      </a:r>
                      <a:r>
                        <a:rPr lang="zh-CN" sz="1050" kern="100">
                          <a:effectLst/>
                        </a:rPr>
                        <a:t>收益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VPP</a:t>
                      </a:r>
                      <a:r>
                        <a:rPr lang="zh-CN" sz="1050" kern="100">
                          <a:effectLst/>
                        </a:rPr>
                        <a:t>成本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VPP</a:t>
                      </a:r>
                      <a:r>
                        <a:rPr lang="zh-CN" sz="1050" kern="100">
                          <a:effectLst/>
                        </a:rPr>
                        <a:t>交互收益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VPP</a:t>
                      </a:r>
                      <a:r>
                        <a:rPr lang="zh-CN" sz="1050" kern="100">
                          <a:effectLst/>
                        </a:rPr>
                        <a:t>总成本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050" kern="100" dirty="0">
                          <a:effectLst/>
                        </a:rPr>
                        <a:t>碳排放量</a:t>
                      </a:r>
                      <a:r>
                        <a:rPr lang="en-US" altLang="zh-CN" sz="1050" kern="100" dirty="0">
                          <a:effectLst/>
                        </a:rPr>
                        <a:t>/t</a:t>
                      </a:r>
                      <a:endParaRPr lang="zh-CN" alt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4754837"/>
                  </a:ext>
                </a:extLst>
              </a:tr>
              <a:tr h="17814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17350.2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32047.5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78400.2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94.23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0547515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22650.3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99984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23702.4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721030"/>
                  </a:ext>
                </a:extLst>
              </a:tr>
              <a:tr h="17814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35503.2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4872.5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79697.9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105.36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106723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21108.7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-3241.7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493882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23085.6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-1631.2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54968"/>
                  </a:ext>
                </a:extLst>
              </a:tr>
              <a:tr h="17814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13604.8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27947.5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3465.8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71514.1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168.96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9137507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21641.2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-1951.4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125201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21866.2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-1573.6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9031"/>
                  </a:ext>
                </a:extLst>
              </a:tr>
              <a:tr h="17814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14408.4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29630.1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3062.1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71839.3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176.45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0837798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20743.7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-1764.5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237099"/>
                  </a:ext>
                </a:extLst>
              </a:tr>
              <a:tr h="1781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21536.8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-1368.9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78691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3FF3C2AB-377B-46C2-9D2A-45FE7DF2A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899484"/>
              </p:ext>
            </p:extLst>
          </p:nvPr>
        </p:nvGraphicFramePr>
        <p:xfrm>
          <a:off x="701440" y="3463165"/>
          <a:ext cx="4950679" cy="1352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5479">
                  <a:extLst>
                    <a:ext uri="{9D8B030D-6E8A-4147-A177-3AD203B41FA5}">
                      <a16:colId xmlns:a16="http://schemas.microsoft.com/office/drawing/2014/main" val="3258965715"/>
                    </a:ext>
                  </a:extLst>
                </a:gridCol>
                <a:gridCol w="1184795">
                  <a:extLst>
                    <a:ext uri="{9D8B030D-6E8A-4147-A177-3AD203B41FA5}">
                      <a16:colId xmlns:a16="http://schemas.microsoft.com/office/drawing/2014/main" val="1992593679"/>
                    </a:ext>
                  </a:extLst>
                </a:gridCol>
                <a:gridCol w="990135">
                  <a:extLst>
                    <a:ext uri="{9D8B030D-6E8A-4147-A177-3AD203B41FA5}">
                      <a16:colId xmlns:a16="http://schemas.microsoft.com/office/drawing/2014/main" val="3118089745"/>
                    </a:ext>
                  </a:extLst>
                </a:gridCol>
                <a:gridCol w="990135">
                  <a:extLst>
                    <a:ext uri="{9D8B030D-6E8A-4147-A177-3AD203B41FA5}">
                      <a16:colId xmlns:a16="http://schemas.microsoft.com/office/drawing/2014/main" val="2217278358"/>
                    </a:ext>
                  </a:extLst>
                </a:gridCol>
                <a:gridCol w="990135">
                  <a:extLst>
                    <a:ext uri="{9D8B030D-6E8A-4147-A177-3AD203B41FA5}">
                      <a16:colId xmlns:a16="http://schemas.microsoft.com/office/drawing/2014/main" val="1660866676"/>
                    </a:ext>
                  </a:extLst>
                </a:gridCol>
              </a:tblGrid>
              <a:tr h="270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VPP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合作前成本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合作后成本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最终分配成本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成本降低值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05483"/>
                  </a:ext>
                </a:extLst>
              </a:tr>
              <a:tr h="270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32047.5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30630.7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29630.1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2417.4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0278663"/>
                  </a:ext>
                </a:extLst>
              </a:tr>
              <a:tr h="270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22650.3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24350.4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20743.7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1906.6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749809"/>
                  </a:ext>
                </a:extLst>
              </a:tr>
              <a:tr h="270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23702.4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24716.8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21536.8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2165.6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3236361"/>
                  </a:ext>
                </a:extLst>
              </a:tr>
              <a:tr h="270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总成本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78400.2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79697.9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71910.6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6489.6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7070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338125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63783" y="848238"/>
            <a:ext cx="8784735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5566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能量交易优化结果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17">
            <a:extLst>
              <a:ext uri="{FF2B5EF4-FFF2-40B4-BE49-F238E27FC236}">
                <a16:creationId xmlns:a16="http://schemas.microsoft.com/office/drawing/2014/main" id="{6108840F-975D-4555-83AB-402038EA8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78" y="157757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19">
            <a:extLst>
              <a:ext uri="{FF2B5EF4-FFF2-40B4-BE49-F238E27FC236}">
                <a16:creationId xmlns:a16="http://schemas.microsoft.com/office/drawing/2014/main" id="{121D60A9-5DD6-4907-924B-7346C300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794" y="17725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6FE48B-0299-4192-A825-D17B32232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70497"/>
              </p:ext>
            </p:extLst>
          </p:nvPr>
        </p:nvGraphicFramePr>
        <p:xfrm>
          <a:off x="2957805" y="2354932"/>
          <a:ext cx="2982347" cy="2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8" name="Visio" r:id="rId5" imgW="6600684" imgH="4467199" progId="Visio.Drawing.15">
                  <p:embed/>
                </p:oleObj>
              </mc:Choice>
              <mc:Fallback>
                <p:oleObj name="Visio" r:id="rId5" imgW="6600684" imgH="4467199" progId="Visio.Drawing.15">
                  <p:embed/>
                  <p:pic>
                    <p:nvPicPr>
                      <p:cNvPr id="0" name="Object 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805" y="2354932"/>
                        <a:ext cx="2982347" cy="2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21">
            <a:extLst>
              <a:ext uri="{FF2B5EF4-FFF2-40B4-BE49-F238E27FC236}">
                <a16:creationId xmlns:a16="http://schemas.microsoft.com/office/drawing/2014/main" id="{1D80F16D-5E54-4E68-9FF9-C69A2170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82" y="16809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423">
            <a:extLst>
              <a:ext uri="{FF2B5EF4-FFF2-40B4-BE49-F238E27FC236}">
                <a16:creationId xmlns:a16="http://schemas.microsoft.com/office/drawing/2014/main" id="{DFB34F13-47D9-4D2C-9059-A2021828D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276" y="16756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9241552-8284-4F9A-A45B-80BC66715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368189"/>
              </p:ext>
            </p:extLst>
          </p:nvPr>
        </p:nvGraphicFramePr>
        <p:xfrm>
          <a:off x="5789997" y="2370571"/>
          <a:ext cx="3171512" cy="2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9" name="Visio" r:id="rId7" imgW="7038971" imgH="4448085" progId="Visio.Drawing.15">
                  <p:embed/>
                </p:oleObj>
              </mc:Choice>
              <mc:Fallback>
                <p:oleObj name="Visio" r:id="rId7" imgW="7038971" imgH="4448085" progId="Visio.Drawing.15">
                  <p:embed/>
                  <p:pic>
                    <p:nvPicPr>
                      <p:cNvPr id="0" name="Object 4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997" y="2370571"/>
                        <a:ext cx="3171512" cy="2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图片 27">
            <a:extLst>
              <a:ext uri="{FF2B5EF4-FFF2-40B4-BE49-F238E27FC236}">
                <a16:creationId xmlns:a16="http://schemas.microsoft.com/office/drawing/2014/main" id="{78070624-A292-436D-86C9-2F9C69282E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83" y="2373168"/>
            <a:ext cx="2946062" cy="201600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45DF4283-8C55-45B6-9683-3B640790495A}"/>
              </a:ext>
            </a:extLst>
          </p:cNvPr>
          <p:cNvSpPr txBox="1"/>
          <p:nvPr/>
        </p:nvSpPr>
        <p:spPr>
          <a:xfrm>
            <a:off x="497265" y="4546441"/>
            <a:ext cx="2058999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b="1" dirty="0"/>
              <a:t>VPP1</a:t>
            </a:r>
            <a:r>
              <a:rPr lang="zh-CN" altLang="en-US" sz="1400" b="1" dirty="0"/>
              <a:t>的电功率平衡图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49892D-F899-4722-A8D7-AC2EAAB2CE6A}"/>
              </a:ext>
            </a:extLst>
          </p:cNvPr>
          <p:cNvSpPr txBox="1"/>
          <p:nvPr/>
        </p:nvSpPr>
        <p:spPr>
          <a:xfrm>
            <a:off x="3521113" y="4541694"/>
            <a:ext cx="2058999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b="1" dirty="0"/>
              <a:t>VPP1</a:t>
            </a:r>
            <a:r>
              <a:rPr lang="zh-CN" altLang="en-US" sz="1400" b="1" dirty="0"/>
              <a:t>的热功率平衡图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C1B5265-C67F-4857-A398-E7206B3FF5EC}"/>
              </a:ext>
            </a:extLst>
          </p:cNvPr>
          <p:cNvSpPr txBox="1"/>
          <p:nvPr/>
        </p:nvSpPr>
        <p:spPr>
          <a:xfrm>
            <a:off x="6300192" y="4541694"/>
            <a:ext cx="2203015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b="1" dirty="0"/>
              <a:t>VPP1</a:t>
            </a:r>
            <a:r>
              <a:rPr lang="zh-CN" altLang="en-US" sz="1400" b="1" dirty="0"/>
              <a:t>与外部购售电情况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DA392E-8FAB-4D0B-8E03-E2ED30155B2B}"/>
              </a:ext>
            </a:extLst>
          </p:cNvPr>
          <p:cNvSpPr/>
          <p:nvPr/>
        </p:nvSpPr>
        <p:spPr>
          <a:xfrm>
            <a:off x="203812" y="1087152"/>
            <a:ext cx="8693600" cy="875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碳捕集协同垃圾焚烧电厂在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内部不同时刻表现出力的差异性，保证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内部的电能平衡，有利于降低系统内部的能量波动，还可以减少与外部电网购售电量，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在产生电能过程中，还会产生热能提供一部分热负荷需求，其他热能由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提供，满足用户热负荷需求。</a:t>
            </a:r>
          </a:p>
        </p:txBody>
      </p:sp>
    </p:spTree>
    <p:extLst>
      <p:ext uri="{BB962C8B-B14F-4D97-AF65-F5344CB8AC3E}">
        <p14:creationId xmlns:p14="http://schemas.microsoft.com/office/powerpoint/2010/main" val="343354946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467543" y="848238"/>
            <a:ext cx="8068825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6" y="234387"/>
            <a:ext cx="3456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低碳特性分析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1B0CD854-F9A3-4E77-8BEF-B2C1BD58B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2" y="2064354"/>
            <a:ext cx="3821853" cy="251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>
            <a:extLst>
              <a:ext uri="{FF2B5EF4-FFF2-40B4-BE49-F238E27FC236}">
                <a16:creationId xmlns:a16="http://schemas.microsoft.com/office/drawing/2014/main" id="{A4907D8B-4339-41AF-A0DD-B76BA7D1A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700" y="1936701"/>
            <a:ext cx="4024312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8CA7225-BF2A-48A0-9ECA-A2096D191B2E}"/>
              </a:ext>
            </a:extLst>
          </p:cNvPr>
          <p:cNvSpPr txBox="1"/>
          <p:nvPr/>
        </p:nvSpPr>
        <p:spPr>
          <a:xfrm>
            <a:off x="1054984" y="4657874"/>
            <a:ext cx="3367048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场景三下</a:t>
            </a:r>
            <a:r>
              <a:rPr lang="en-US" altLang="zh-CN" sz="1400" b="1" dirty="0"/>
              <a:t>VPP1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CCS</a:t>
            </a:r>
            <a:r>
              <a:rPr lang="zh-CN" altLang="en-US" sz="1400" b="1" dirty="0"/>
              <a:t>碳排放量和捕集量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D090192-AA25-4BB6-8FE8-9BFE2516ACCC}"/>
              </a:ext>
            </a:extLst>
          </p:cNvPr>
          <p:cNvSpPr txBox="1"/>
          <p:nvPr/>
        </p:nvSpPr>
        <p:spPr>
          <a:xfrm>
            <a:off x="5652120" y="4657874"/>
            <a:ext cx="2045686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场景三下碳排放差额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63CEC5-6F3B-45F5-BDB4-7C753EAE07DD}"/>
              </a:ext>
            </a:extLst>
          </p:cNvPr>
          <p:cNvSpPr/>
          <p:nvPr/>
        </p:nvSpPr>
        <p:spPr>
          <a:xfrm>
            <a:off x="660314" y="986780"/>
            <a:ext cx="7656104" cy="875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中加入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减碳效果良好，同时可以看出碳捕集电厂的效率在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70%-90%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之间，这是因为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需要满足负荷需求的情况下提供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CCS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能耗。无偿碳排放配额机制下，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碳排放差额（即实际排放量与配额量之差）的分布特征如下。</a:t>
            </a:r>
          </a:p>
        </p:txBody>
      </p:sp>
    </p:spTree>
    <p:extLst>
      <p:ext uri="{BB962C8B-B14F-4D97-AF65-F5344CB8AC3E}">
        <p14:creationId xmlns:p14="http://schemas.microsoft.com/office/powerpoint/2010/main" val="1949462798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>
            <a:extLst>
              <a:ext uri="{FF2B5EF4-FFF2-40B4-BE49-F238E27FC236}">
                <a16:creationId xmlns:a16="http://schemas.microsoft.com/office/drawing/2014/main" id="{D040656F-CF73-F604-A855-93A57F05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>
            <a:extLst>
              <a:ext uri="{FF2B5EF4-FFF2-40B4-BE49-F238E27FC236}">
                <a16:creationId xmlns:a16="http://schemas.microsoft.com/office/drawing/2014/main" id="{75FF6B11-9DE9-C7E8-0447-45139FF9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46E425A0-5C89-1D43-55D5-96D0CAD4D533}"/>
              </a:ext>
            </a:extLst>
          </p:cNvPr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>
              <a:extLst>
                <a:ext uri="{FF2B5EF4-FFF2-40B4-BE49-F238E27FC236}">
                  <a16:creationId xmlns:a16="http://schemas.microsoft.com/office/drawing/2014/main" id="{9582CB73-E242-ED3A-E23E-860D01EE4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617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299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研究内容三</a:t>
              </a:r>
            </a:p>
          </p:txBody>
        </p:sp>
        <p:grpSp>
          <p:nvGrpSpPr>
            <p:cNvPr id="25605" name="组合 4">
              <a:extLst>
                <a:ext uri="{FF2B5EF4-FFF2-40B4-BE49-F238E27FC236}">
                  <a16:creationId xmlns:a16="http://schemas.microsoft.com/office/drawing/2014/main" id="{5DA013B6-269F-3A9A-0884-F8B283621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9B482FD-6036-7D20-6101-B5181A383FBD}"/>
                  </a:ext>
                </a:extLst>
              </p:cNvPr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61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>
                <a:extLst>
                  <a:ext uri="{FF2B5EF4-FFF2-40B4-BE49-F238E27FC236}">
                    <a16:creationId xmlns:a16="http://schemas.microsoft.com/office/drawing/2014/main" id="{65837C08-DDE0-0B94-BE53-E900885C48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617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02AE114-6B97-B281-54C5-74D4B6D2D1E4}"/>
              </a:ext>
            </a:extLst>
          </p:cNvPr>
          <p:cNvSpPr txBox="1"/>
          <p:nvPr/>
        </p:nvSpPr>
        <p:spPr>
          <a:xfrm>
            <a:off x="1699928" y="2498948"/>
            <a:ext cx="6534472" cy="110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99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碳联合市场下多虚拟电厂优化调度策略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2736140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07504" y="848237"/>
            <a:ext cx="8928992" cy="429366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398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碳市场碳交易机制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E7D4B7-97BD-D76C-3895-1DC646C350BA}"/>
              </a:ext>
            </a:extLst>
          </p:cNvPr>
          <p:cNvSpPr/>
          <p:nvPr/>
        </p:nvSpPr>
        <p:spPr>
          <a:xfrm>
            <a:off x="251520" y="3496949"/>
            <a:ext cx="4980017" cy="152227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A2DE220E-AB1E-6DED-F636-D3B83853D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D88CF140-D522-9B4D-2D3B-73F86312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DE844F0-47EA-7E32-E312-E8124A7A8F7D}"/>
              </a:ext>
            </a:extLst>
          </p:cNvPr>
          <p:cNvGrpSpPr/>
          <p:nvPr/>
        </p:nvGrpSpPr>
        <p:grpSpPr>
          <a:xfrm>
            <a:off x="251521" y="968631"/>
            <a:ext cx="2961292" cy="2466421"/>
            <a:chOff x="313807" y="1026451"/>
            <a:chExt cx="2213927" cy="246642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6BBFC25-B497-D794-6085-3082A5D80813}"/>
                </a:ext>
              </a:extLst>
            </p:cNvPr>
            <p:cNvSpPr txBox="1"/>
            <p:nvPr/>
          </p:nvSpPr>
          <p:spPr>
            <a:xfrm>
              <a:off x="676547" y="1048861"/>
              <a:ext cx="14880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初始碳配额分配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062DC0-E0E2-4C5A-89EC-8953E9D4925A}"/>
                </a:ext>
              </a:extLst>
            </p:cNvPr>
            <p:cNvSpPr/>
            <p:nvPr/>
          </p:nvSpPr>
          <p:spPr>
            <a:xfrm>
              <a:off x="313807" y="1026451"/>
              <a:ext cx="2213927" cy="2466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1AC03FCD-AA91-657D-FE08-7E04801ACAB3}"/>
              </a:ext>
            </a:extLst>
          </p:cNvPr>
          <p:cNvSpPr txBox="1"/>
          <p:nvPr/>
        </p:nvSpPr>
        <p:spPr>
          <a:xfrm rot="16200000">
            <a:off x="-79365" y="4016798"/>
            <a:ext cx="1477328" cy="369332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阶梯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型碳奖惩</a:t>
            </a:r>
            <a:endParaRPr lang="zh-CN" altLang="en-US" sz="1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AA32CA6-8441-4256-A6B3-93D224FC8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930310"/>
              </p:ext>
            </p:extLst>
          </p:nvPr>
        </p:nvGraphicFramePr>
        <p:xfrm>
          <a:off x="394440" y="1241276"/>
          <a:ext cx="12858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4" name="Equation" r:id="rId5" imgW="1285368" imgH="609458" progId="Equation.DSMT4">
                  <p:embed/>
                </p:oleObj>
              </mc:Choice>
              <mc:Fallback>
                <p:oleObj name="Equation" r:id="rId5" imgW="1285368" imgH="6094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440" y="1241276"/>
                        <a:ext cx="128587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7C20B52-A0D7-42D9-80BE-F2001AA2F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632123"/>
              </p:ext>
            </p:extLst>
          </p:nvPr>
        </p:nvGraphicFramePr>
        <p:xfrm>
          <a:off x="2035583" y="1762897"/>
          <a:ext cx="9525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5" name="Equation" r:id="rId7" imgW="952151" imgH="704855" progId="Equation.DSMT4">
                  <p:embed/>
                </p:oleObj>
              </mc:Choice>
              <mc:Fallback>
                <p:oleObj name="Equation" r:id="rId7" imgW="952151" imgH="7048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35583" y="1762897"/>
                        <a:ext cx="952500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B719DA1-89C8-4DF8-8B93-9C15C57BC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08134"/>
              </p:ext>
            </p:extLst>
          </p:nvPr>
        </p:nvGraphicFramePr>
        <p:xfrm>
          <a:off x="372738" y="2387302"/>
          <a:ext cx="136207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6" name="Equation" r:id="rId9" imgW="1361655" imgH="1047563" progId="Equation.DSMT4">
                  <p:embed/>
                </p:oleObj>
              </mc:Choice>
              <mc:Fallback>
                <p:oleObj name="Equation" r:id="rId9" imgW="1361655" imgH="104756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2738" y="2387302"/>
                        <a:ext cx="1362075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A8D1B0CC-89AA-448C-9E9D-862D2DFA6EF6}"/>
              </a:ext>
            </a:extLst>
          </p:cNvPr>
          <p:cNvSpPr txBox="1"/>
          <p:nvPr/>
        </p:nvSpPr>
        <p:spPr>
          <a:xfrm>
            <a:off x="1879226" y="1337715"/>
            <a:ext cx="922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基准线法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9837F0-E716-44C6-9FA0-ED0222D2C127}"/>
              </a:ext>
            </a:extLst>
          </p:cNvPr>
          <p:cNvSpPr txBox="1"/>
          <p:nvPr/>
        </p:nvSpPr>
        <p:spPr>
          <a:xfrm>
            <a:off x="599329" y="1947222"/>
            <a:ext cx="1138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历史排放法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925D75-4090-434A-80C2-BF2F4C7C3924}"/>
              </a:ext>
            </a:extLst>
          </p:cNvPr>
          <p:cNvSpPr txBox="1"/>
          <p:nvPr/>
        </p:nvSpPr>
        <p:spPr>
          <a:xfrm>
            <a:off x="1791171" y="2751531"/>
            <a:ext cx="1138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混合碳配额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F1D2C32-2136-42C7-82E7-87C413919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788660"/>
              </p:ext>
            </p:extLst>
          </p:nvPr>
        </p:nvGraphicFramePr>
        <p:xfrm>
          <a:off x="774616" y="3539524"/>
          <a:ext cx="37607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7" name="Equation" r:id="rId11" imgW="3760745" imgH="1295234" progId="Equation.DSMT4">
                  <p:embed/>
                </p:oleObj>
              </mc:Choice>
              <mc:Fallback>
                <p:oleObj name="Equation" r:id="rId11" imgW="3760745" imgH="129523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4616" y="3539524"/>
                        <a:ext cx="3760787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BB75F32-3CA3-45DE-B209-64AF791948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60605"/>
              </p:ext>
            </p:extLst>
          </p:nvPr>
        </p:nvGraphicFramePr>
        <p:xfrm>
          <a:off x="750111" y="4756877"/>
          <a:ext cx="2465387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8" name="Equation" r:id="rId13" imgW="2466021" imgH="276110" progId="Equation.DSMT4">
                  <p:embed/>
                </p:oleObj>
              </mc:Choice>
              <mc:Fallback>
                <p:oleObj name="Equation" r:id="rId13" imgW="2466021" imgH="27611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0111" y="4756877"/>
                        <a:ext cx="2465387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21D469F8-960D-4286-86C5-04E48707D2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6830" y="860658"/>
            <a:ext cx="5535649" cy="2602142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5712BB1E-98E5-4831-8393-E886A36659A7}"/>
              </a:ext>
            </a:extLst>
          </p:cNvPr>
          <p:cNvSpPr txBox="1"/>
          <p:nvPr/>
        </p:nvSpPr>
        <p:spPr>
          <a:xfrm>
            <a:off x="5318793" y="3508186"/>
            <a:ext cx="3516926" cy="150009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传统碳排放管控模式采用固定碳价机制，对超出配额的排放行为统一征收费用，通过经济方式推动减排。而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阶梯碳奖惩机制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通过设置不同的排放阶梯区间及对应的奖惩系数，使排放主体根据实际排放水平对应区间获得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差异化经济激励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：对低于基准排放的主体给予阶梯式奖励，对高于基准的主体实施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累进式经济约束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4217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62097" y="234387"/>
            <a:ext cx="2847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云储能低碳原理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6F35A3-0FA4-42F2-A13C-1957D4250CAC}"/>
              </a:ext>
            </a:extLst>
          </p:cNvPr>
          <p:cNvSpPr/>
          <p:nvPr/>
        </p:nvSpPr>
        <p:spPr>
          <a:xfrm>
            <a:off x="388308" y="1079598"/>
            <a:ext cx="4948871" cy="1927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的充电阶段，实际上是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获取电能的过程，本质上是进行存储碳，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放电阶段，则将存储的电能回送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进行再分配碳。</a:t>
            </a:r>
            <a:endParaRPr lang="en-US" altLang="zh-CN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云储能需求响应流程计算需求响应前的碳排放因子，发布电价和负荷削减、转移计划，用户需要在规定的时间段内完成转移和减负荷，在需求响应后反馈负荷情况，对于转移和削减部分的给予补偿。</a:t>
            </a:r>
            <a:endParaRPr lang="en-US" altLang="zh-CN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endParaRPr lang="en-US" altLang="zh-CN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endParaRPr lang="en-US" altLang="zh-CN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endParaRPr lang="zh-CN" altLang="en-US" sz="1600" kern="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33172-71B5-1FDE-1256-C71CA1639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724" y="-339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B63081-E37A-4FB8-A0B9-CC3F720B6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3160333"/>
            <a:ext cx="4847721" cy="16515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411949-375B-4115-916C-3AD26CCF3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077" y="1106797"/>
            <a:ext cx="3566042" cy="365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79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98880" y="831855"/>
            <a:ext cx="876560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2937" y="297392"/>
            <a:ext cx="5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碳联合交易优化模型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D95436-1BB4-D36A-83E3-BBFBD3460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62" y="141380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4274161D-3DBF-E49D-B233-4EDBC4B3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799" y="30506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6DD083-FCBF-BA41-3965-92A43D21F336}"/>
              </a:ext>
            </a:extLst>
          </p:cNvPr>
          <p:cNvSpPr txBox="1"/>
          <p:nvPr/>
        </p:nvSpPr>
        <p:spPr>
          <a:xfrm>
            <a:off x="5318529" y="2658927"/>
            <a:ext cx="3210417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我国省市级区域电网的电碳排放因子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A0EB293-A05B-407E-ADF1-AC184A2C7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55" y="928127"/>
            <a:ext cx="4508575" cy="391639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0D6CEAD-1171-4C62-9826-773BD8DAFA6B}"/>
              </a:ext>
            </a:extLst>
          </p:cNvPr>
          <p:cNvSpPr/>
          <p:nvPr/>
        </p:nvSpPr>
        <p:spPr>
          <a:xfrm>
            <a:off x="5103545" y="949951"/>
            <a:ext cx="3742850" cy="1621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通过动态碳排放因子的时间分布数据，用户可辨识全天不同时段的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排放峰谷特征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。结合用电负荷曲线进行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碳排放核算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，能明确各时段的电能质量差异，进而在清洁电能时期主动增加电力消费，实现用电行为的低碳优化。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11E18ED-8B7D-42AD-BD8F-155E5C06E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6136" y="3037026"/>
          <a:ext cx="2118626" cy="530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6" name="Equation" r:id="rId6" imgW="2018373" imgH="504702" progId="Equation.DSMT4">
                  <p:embed/>
                </p:oleObj>
              </mc:Choice>
              <mc:Fallback>
                <p:oleObj name="Equation" r:id="rId6" imgW="2018373" imgH="504702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11E18ED-8B7D-42AD-BD8F-155E5C06E9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96136" y="3037026"/>
                        <a:ext cx="2118626" cy="530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A59380B2-D2D2-4952-96C1-987613DCFD09}"/>
              </a:ext>
            </a:extLst>
          </p:cNvPr>
          <p:cNvSpPr txBox="1"/>
          <p:nvPr/>
        </p:nvSpPr>
        <p:spPr>
          <a:xfrm>
            <a:off x="5318528" y="3735269"/>
            <a:ext cx="3210417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动态电碳排放因子的时空计算模型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124EC9F-A35E-47BD-A229-B81FE2B83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9401" y="4125612"/>
          <a:ext cx="27511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7" name="Equation" r:id="rId8" imgW="2751378" imgH="561940" progId="Equation.DSMT4">
                  <p:embed/>
                </p:oleObj>
              </mc:Choice>
              <mc:Fallback>
                <p:oleObj name="Equation" r:id="rId8" imgW="2751378" imgH="5619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124EC9F-A35E-47BD-A229-B81FE2B83F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99401" y="4125612"/>
                        <a:ext cx="2751137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219538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198880" y="831854"/>
            <a:ext cx="8765608" cy="4274093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2937" y="297392"/>
            <a:ext cx="5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考虑时空相关性的动态碳排放因子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D95436-1BB4-D36A-83E3-BBFBD3460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62" y="141380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4274161D-3DBF-E49D-B233-4EDBC4B3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799" y="30506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D6CEAD-1171-4C62-9826-773BD8DAFA6B}"/>
              </a:ext>
            </a:extLst>
          </p:cNvPr>
          <p:cNvSpPr/>
          <p:nvPr/>
        </p:nvSpPr>
        <p:spPr>
          <a:xfrm>
            <a:off x="362709" y="949951"/>
            <a:ext cx="8483686" cy="5949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在分布式多虚拟电厂交易体系架构中，各虚拟电厂的电能供给可通过三种途径实现：本地分布式发电单元出力、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放电以及电力交易市场购电。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9EB3C1C-BD77-4161-8B5D-BD5335EBF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09" y="1562843"/>
            <a:ext cx="4282484" cy="338707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FB53723-9CB2-41E8-8BC8-12C3BAD39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036" y="1567653"/>
            <a:ext cx="4239204" cy="345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90212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2936" y="297392"/>
            <a:ext cx="671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基于改进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ADMM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分布式电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碳优化策略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0879FE-BFF7-F548-4453-3A3EC65EFBC8}"/>
              </a:ext>
            </a:extLst>
          </p:cNvPr>
          <p:cNvSpPr txBox="1"/>
          <p:nvPr/>
        </p:nvSpPr>
        <p:spPr>
          <a:xfrm>
            <a:off x="450908" y="1666788"/>
            <a:ext cx="919188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052F310A-B9FE-61D0-5047-D7CE00FF8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79" y="349138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5370AC40-2784-89E7-0CBB-41243BEEC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15158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2EF275-70A8-4127-E226-9D9418197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B710AD3-7E90-D7D8-26F8-9BC31D1E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0179719-5E30-F0CC-E879-4B137FB3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1E11E57-49AC-CAA4-79E5-8DFE818E5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2694A821-4A6A-629D-BDFE-BA55773A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D1EDDA4-E04F-000E-5085-9638B838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038CE16-49A9-3A59-4BAD-83DCB168C802}"/>
              </a:ext>
            </a:extLst>
          </p:cNvPr>
          <p:cNvSpPr txBox="1"/>
          <p:nvPr/>
        </p:nvSpPr>
        <p:spPr>
          <a:xfrm>
            <a:off x="7733822" y="2134786"/>
            <a:ext cx="11259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总成本最小</a:t>
            </a:r>
            <a:endParaRPr lang="zh-CN" altLang="en-US" dirty="0"/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2F20214F-3692-32C4-8084-C6A593CFF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5D40AF57-6FB9-2E94-D826-9865C6AC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8FECC3A5-0AE0-63F2-710D-9AA9F047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FCFE211-D134-41FD-BDEB-F8B0CD183F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974294"/>
              </p:ext>
            </p:extLst>
          </p:nvPr>
        </p:nvGraphicFramePr>
        <p:xfrm>
          <a:off x="702936" y="2088774"/>
          <a:ext cx="5422254" cy="410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5" name="Equation" r:id="rId5" imgW="4274964" imgH="323989" progId="Equation.DSMT4">
                  <p:embed/>
                </p:oleObj>
              </mc:Choice>
              <mc:Fallback>
                <p:oleObj name="Equation" r:id="rId5" imgW="4274964" imgH="32398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2936" y="2088774"/>
                        <a:ext cx="5422254" cy="410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>
            <a:extLst>
              <a:ext uri="{FF2B5EF4-FFF2-40B4-BE49-F238E27FC236}">
                <a16:creationId xmlns:a16="http://schemas.microsoft.com/office/drawing/2014/main" id="{EBDE9810-B3E1-49F2-B1E1-6F3C3EA09D33}"/>
              </a:ext>
            </a:extLst>
          </p:cNvPr>
          <p:cNvSpPr txBox="1"/>
          <p:nvPr/>
        </p:nvSpPr>
        <p:spPr>
          <a:xfrm>
            <a:off x="465986" y="2556261"/>
            <a:ext cx="1081678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碳交易成本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60327D9-0157-4284-9F45-A6AC256B18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403974"/>
              </p:ext>
            </p:extLst>
          </p:nvPr>
        </p:nvGraphicFramePr>
        <p:xfrm>
          <a:off x="647291" y="3849639"/>
          <a:ext cx="4377861" cy="994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6" name="Equation" r:id="rId7" imgW="3646674" imgH="828691" progId="Equation.DSMT4">
                  <p:embed/>
                </p:oleObj>
              </mc:Choice>
              <mc:Fallback>
                <p:oleObj name="Equation" r:id="rId7" imgW="3646674" imgH="8286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291" y="3849639"/>
                        <a:ext cx="4377861" cy="994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EDF0F4F-8076-4587-ADF5-9FAAB0A54B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330540"/>
              </p:ext>
            </p:extLst>
          </p:nvPr>
        </p:nvGraphicFramePr>
        <p:xfrm>
          <a:off x="657226" y="3081216"/>
          <a:ext cx="2376264" cy="602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7" name="Equation" r:id="rId9" imgW="1989945" imgH="504702" progId="Equation.DSMT4">
                  <p:embed/>
                </p:oleObj>
              </mc:Choice>
              <mc:Fallback>
                <p:oleObj name="Equation" r:id="rId9" imgW="1989945" imgH="50470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7226" y="3081216"/>
                        <a:ext cx="2376264" cy="602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B94791D3-8AFF-4056-949A-8B9A998BC2FA}"/>
              </a:ext>
            </a:extLst>
          </p:cNvPr>
          <p:cNvSpPr/>
          <p:nvPr/>
        </p:nvSpPr>
        <p:spPr>
          <a:xfrm>
            <a:off x="362709" y="949951"/>
            <a:ext cx="8483686" cy="5949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虚拟电厂电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碳联合交易优化模型的总体目标为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总成本最小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和碳排放最少，可等效为该虚拟电厂的电成本和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碳成本总额最少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箭头: V 形 21">
            <a:extLst>
              <a:ext uri="{FF2B5EF4-FFF2-40B4-BE49-F238E27FC236}">
                <a16:creationId xmlns:a16="http://schemas.microsoft.com/office/drawing/2014/main" id="{B5BB1512-D8E0-4BB3-A197-12CA50ACC44E}"/>
              </a:ext>
            </a:extLst>
          </p:cNvPr>
          <p:cNvSpPr/>
          <p:nvPr/>
        </p:nvSpPr>
        <p:spPr>
          <a:xfrm>
            <a:off x="6190778" y="2225621"/>
            <a:ext cx="319018" cy="16631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70F56A58-93B0-4F9C-8872-471C0ABF4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360964"/>
              </p:ext>
            </p:extLst>
          </p:nvPr>
        </p:nvGraphicFramePr>
        <p:xfrm>
          <a:off x="6838950" y="2116138"/>
          <a:ext cx="854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8" name="Equation" r:id="rId11" imgW="749160" imgH="342720" progId="Equation.DSMT4">
                  <p:embed/>
                </p:oleObj>
              </mc:Choice>
              <mc:Fallback>
                <p:oleObj name="Equation" r:id="rId11" imgW="749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38950" y="2116138"/>
                        <a:ext cx="854075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136D9932-AAE2-42C8-A0BA-046937D92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000722"/>
              </p:ext>
            </p:extLst>
          </p:nvPr>
        </p:nvGraphicFramePr>
        <p:xfrm>
          <a:off x="5229440" y="2696098"/>
          <a:ext cx="3206911" cy="28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9" name="Equation" r:id="rId13" imgW="2694523" imgH="237952" progId="Equation.DSMT4">
                  <p:embed/>
                </p:oleObj>
              </mc:Choice>
              <mc:Fallback>
                <p:oleObj name="Equation" r:id="rId13" imgW="2694523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29440" y="2696098"/>
                        <a:ext cx="3206911" cy="28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37938D7B-800C-4B62-985E-873E718A9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731835"/>
              </p:ext>
            </p:extLst>
          </p:nvPr>
        </p:nvGraphicFramePr>
        <p:xfrm>
          <a:off x="5187381" y="3050558"/>
          <a:ext cx="3291029" cy="28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0" name="Equation" r:id="rId15" imgW="2742022" imgH="237952" progId="Equation.DSMT4">
                  <p:embed/>
                </p:oleObj>
              </mc:Choice>
              <mc:Fallback>
                <p:oleObj name="Equation" r:id="rId15" imgW="2742022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87381" y="3050558"/>
                        <a:ext cx="3291029" cy="285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37357E4B-F6A0-41AA-A783-AA5371ADF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406316"/>
              </p:ext>
            </p:extLst>
          </p:nvPr>
        </p:nvGraphicFramePr>
        <p:xfrm>
          <a:off x="5502790" y="3392819"/>
          <a:ext cx="2693987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1" name="Equation" r:id="rId17" imgW="2694523" imgH="247671" progId="Equation.DSMT4">
                  <p:embed/>
                </p:oleObj>
              </mc:Choice>
              <mc:Fallback>
                <p:oleObj name="Equation" r:id="rId17" imgW="2694523" imgH="247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02790" y="3392819"/>
                        <a:ext cx="2693987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2A365EFB-21C3-4BE1-B9A0-7440733F6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099083"/>
              </p:ext>
            </p:extLst>
          </p:nvPr>
        </p:nvGraphicFramePr>
        <p:xfrm>
          <a:off x="5502791" y="3634181"/>
          <a:ext cx="2693987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2" name="Equation" r:id="rId19" imgW="2694523" imgH="247671" progId="Equation.DSMT4">
                  <p:embed/>
                </p:oleObj>
              </mc:Choice>
              <mc:Fallback>
                <p:oleObj name="Equation" r:id="rId19" imgW="2694523" imgH="247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02791" y="3634181"/>
                        <a:ext cx="2693987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34578A54-0F33-409E-8247-12DF0B162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810282"/>
              </p:ext>
            </p:extLst>
          </p:nvPr>
        </p:nvGraphicFramePr>
        <p:xfrm>
          <a:off x="5502792" y="3887427"/>
          <a:ext cx="2693987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3" name="Equation" r:id="rId21" imgW="2694523" imgH="247671" progId="Equation.DSMT4">
                  <p:embed/>
                </p:oleObj>
              </mc:Choice>
              <mc:Fallback>
                <p:oleObj name="Equation" r:id="rId21" imgW="2694523" imgH="247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02792" y="3887427"/>
                        <a:ext cx="2693987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7795EAA-D8D2-43F1-BA1D-96878C2A5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139969"/>
              </p:ext>
            </p:extLst>
          </p:nvPr>
        </p:nvGraphicFramePr>
        <p:xfrm>
          <a:off x="5502793" y="4098937"/>
          <a:ext cx="27416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4" name="Equation" r:id="rId23" imgW="2742022" imgH="266751" progId="Equation.DSMT4">
                  <p:embed/>
                </p:oleObj>
              </mc:Choice>
              <mc:Fallback>
                <p:oleObj name="Equation" r:id="rId23" imgW="2742022" imgH="26675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02793" y="4098937"/>
                        <a:ext cx="2741613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344392FB-CB0B-4DED-AE9A-B90446C9D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436077"/>
              </p:ext>
            </p:extLst>
          </p:nvPr>
        </p:nvGraphicFramePr>
        <p:xfrm>
          <a:off x="5502794" y="4352106"/>
          <a:ext cx="27416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5" name="Equation" r:id="rId25" imgW="2742022" imgH="266751" progId="Equation.DSMT4">
                  <p:embed/>
                </p:oleObj>
              </mc:Choice>
              <mc:Fallback>
                <p:oleObj name="Equation" r:id="rId25" imgW="2742022" imgH="26675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502794" y="4352106"/>
                        <a:ext cx="2741613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CA20B944-30C7-4354-A4C5-727D6E0CE8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529062"/>
              </p:ext>
            </p:extLst>
          </p:nvPr>
        </p:nvGraphicFramePr>
        <p:xfrm>
          <a:off x="5502795" y="4587180"/>
          <a:ext cx="27416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6" name="Equation" r:id="rId27" imgW="2742022" imgH="266751" progId="Equation.DSMT4">
                  <p:embed/>
                </p:oleObj>
              </mc:Choice>
              <mc:Fallback>
                <p:oleObj name="Equation" r:id="rId27" imgW="2742022" imgH="26675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02795" y="4587180"/>
                        <a:ext cx="2741613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B58CF405-44A4-4E6C-93E2-BCDFC075B91A}"/>
              </a:ext>
            </a:extLst>
          </p:cNvPr>
          <p:cNvSpPr txBox="1"/>
          <p:nvPr/>
        </p:nvSpPr>
        <p:spPr>
          <a:xfrm>
            <a:off x="4009014" y="2771082"/>
            <a:ext cx="1125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碳共享  平衡约束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E2874DF-7278-4C76-A1AC-D93E2F8ADA82}"/>
              </a:ext>
            </a:extLst>
          </p:cNvPr>
          <p:cNvSpPr txBox="1"/>
          <p:nvPr/>
        </p:nvSpPr>
        <p:spPr>
          <a:xfrm>
            <a:off x="4146441" y="3964838"/>
            <a:ext cx="11259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重新公式化</a:t>
            </a:r>
            <a:endParaRPr lang="zh-CN" altLang="en-US" dirty="0"/>
          </a:p>
        </p:txBody>
      </p:sp>
      <p:sp>
        <p:nvSpPr>
          <p:cNvPr id="53" name="左大括号 52">
            <a:extLst>
              <a:ext uri="{FF2B5EF4-FFF2-40B4-BE49-F238E27FC236}">
                <a16:creationId xmlns:a16="http://schemas.microsoft.com/office/drawing/2014/main" id="{F60B5480-EF96-4EB4-B4D8-4BCF83C95835}"/>
              </a:ext>
            </a:extLst>
          </p:cNvPr>
          <p:cNvSpPr/>
          <p:nvPr/>
        </p:nvSpPr>
        <p:spPr>
          <a:xfrm>
            <a:off x="5199111" y="3407400"/>
            <a:ext cx="221812" cy="14371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59515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01448"/>
            <a:ext cx="8640960" cy="421778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2936" y="297392"/>
            <a:ext cx="671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碳共享的分布式迭代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0879FE-BFF7-F548-4453-3A3EC65EFBC8}"/>
              </a:ext>
            </a:extLst>
          </p:cNvPr>
          <p:cNvSpPr txBox="1"/>
          <p:nvPr/>
        </p:nvSpPr>
        <p:spPr>
          <a:xfrm>
            <a:off x="484460" y="861702"/>
            <a:ext cx="2011974" cy="27699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拓展增广拉格朗日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2EF275-70A8-4127-E226-9D9418197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B710AD3-7E90-D7D8-26F8-9BC31D1E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0179719-5E30-F0CC-E879-4B137FB3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1E11E57-49AC-CAA4-79E5-8DFE818E5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2694A821-4A6A-629D-BDFE-BA55773A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D1EDDA4-E04F-000E-5085-9638B838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2F20214F-3692-32C4-8084-C6A593CFF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5D40AF57-6FB9-2E94-D826-9865C6AC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8FECC3A5-0AE0-63F2-710D-9AA9F047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A04160-4BD8-5042-5852-E2B46290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356E36-E67D-F7F4-8C06-A8166E35BE42}"/>
              </a:ext>
            </a:extLst>
          </p:cNvPr>
          <p:cNvSpPr txBox="1"/>
          <p:nvPr/>
        </p:nvSpPr>
        <p:spPr>
          <a:xfrm>
            <a:off x="484460" y="2807258"/>
            <a:ext cx="1855292" cy="27699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局部决策变量的更新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256F1F5-3B19-555C-D70F-E1C73EEC2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4D96920F-5B27-D1F1-8D80-9D846272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F7B994CC-5A20-53D4-A3BE-BB6F766B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9" name="Rectangle 10">
            <a:extLst>
              <a:ext uri="{FF2B5EF4-FFF2-40B4-BE49-F238E27FC236}">
                <a16:creationId xmlns:a16="http://schemas.microsoft.com/office/drawing/2014/main" id="{135E968E-1C60-2CEC-5FCB-B1A90D07E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780621D-4266-3146-6A43-8F31F1692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7FA3BB5-8B82-41F9-A169-DA2B8F387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345064"/>
              </p:ext>
            </p:extLst>
          </p:nvPr>
        </p:nvGraphicFramePr>
        <p:xfrm>
          <a:off x="1804988" y="904875"/>
          <a:ext cx="676275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4" name="Equation" r:id="rId5" imgW="609480" imgH="203040" progId="Equation.DSMT4">
                  <p:embed/>
                </p:oleObj>
              </mc:Choice>
              <mc:Fallback>
                <p:oleObj name="Equation" r:id="rId5" imgW="609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4988" y="904875"/>
                        <a:ext cx="676275" cy="227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51396AF-71AD-4BA1-ADEC-09CE49496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156933"/>
              </p:ext>
            </p:extLst>
          </p:nvPr>
        </p:nvGraphicFramePr>
        <p:xfrm>
          <a:off x="593698" y="1258350"/>
          <a:ext cx="1793498" cy="374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5" name="Equation" r:id="rId7" imgW="1732656" imgH="361787" progId="Equation.DSMT4">
                  <p:embed/>
                </p:oleObj>
              </mc:Choice>
              <mc:Fallback>
                <p:oleObj name="Equation" r:id="rId7" imgW="1732656" imgH="36178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698" y="1258350"/>
                        <a:ext cx="1793498" cy="374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00E18B7-16AB-4716-A9D8-644A983E4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442737"/>
              </p:ext>
            </p:extLst>
          </p:nvPr>
        </p:nvGraphicFramePr>
        <p:xfrm>
          <a:off x="639480" y="1668559"/>
          <a:ext cx="4201155" cy="100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6" name="Equation" r:id="rId9" imgW="4570037" imgH="1095441" progId="Equation.DSMT4">
                  <p:embed/>
                </p:oleObj>
              </mc:Choice>
              <mc:Fallback>
                <p:oleObj name="Equation" r:id="rId9" imgW="4570037" imgH="109544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9480" y="1668559"/>
                        <a:ext cx="4201155" cy="100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34A8950-2FB2-4422-B0C0-2A9F5A075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440661"/>
              </p:ext>
            </p:extLst>
          </p:nvPr>
        </p:nvGraphicFramePr>
        <p:xfrm>
          <a:off x="590897" y="3207227"/>
          <a:ext cx="3613400" cy="388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7" name="Equation" r:id="rId11" imgW="3189670" imgH="343068" progId="Equation.DSMT4">
                  <p:embed/>
                </p:oleObj>
              </mc:Choice>
              <mc:Fallback>
                <p:oleObj name="Equation" r:id="rId11" imgW="3189670" imgH="3430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897" y="3207227"/>
                        <a:ext cx="3613400" cy="388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7A67A6D-E26C-48DE-B61F-3D8148613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665748"/>
              </p:ext>
            </p:extLst>
          </p:nvPr>
        </p:nvGraphicFramePr>
        <p:xfrm>
          <a:off x="612269" y="3616922"/>
          <a:ext cx="1855292" cy="311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8" name="Equation" r:id="rId13" imgW="1647013" imgH="276110" progId="Equation.DSMT4">
                  <p:embed/>
                </p:oleObj>
              </mc:Choice>
              <mc:Fallback>
                <p:oleObj name="Equation" r:id="rId13" imgW="1647013" imgH="27611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2269" y="3616922"/>
                        <a:ext cx="1855292" cy="311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9BA0C12-5F1C-446C-BAB6-937D3C2784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721848"/>
              </p:ext>
            </p:extLst>
          </p:nvPr>
        </p:nvGraphicFramePr>
        <p:xfrm>
          <a:off x="500112" y="3891432"/>
          <a:ext cx="457041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9" name="Equation" r:id="rId15" imgW="4570037" imgH="818971" progId="Equation.DSMT4">
                  <p:embed/>
                </p:oleObj>
              </mc:Choice>
              <mc:Fallback>
                <p:oleObj name="Equation" r:id="rId15" imgW="4570037" imgH="8189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0112" y="3891432"/>
                        <a:ext cx="4570413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7577AD1-022D-42E2-8941-0CA1C0ECF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239424"/>
              </p:ext>
            </p:extLst>
          </p:nvPr>
        </p:nvGraphicFramePr>
        <p:xfrm>
          <a:off x="612269" y="4763743"/>
          <a:ext cx="26463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0" name="Equation" r:id="rId17" imgW="2646663" imgH="276110" progId="Equation.DSMT4">
                  <p:embed/>
                </p:oleObj>
              </mc:Choice>
              <mc:Fallback>
                <p:oleObj name="Equation" r:id="rId17" imgW="2646663" imgH="27611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2269" y="4763743"/>
                        <a:ext cx="264636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6417A7E-5A8C-4A69-B3D8-FE897A281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487881"/>
              </p:ext>
            </p:extLst>
          </p:nvPr>
        </p:nvGraphicFramePr>
        <p:xfrm>
          <a:off x="4915549" y="992876"/>
          <a:ext cx="3971280" cy="988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1" name="Equation" r:id="rId19" imgW="4322463" imgH="1076362" progId="Equation.DSMT4">
                  <p:embed/>
                </p:oleObj>
              </mc:Choice>
              <mc:Fallback>
                <p:oleObj name="Equation" r:id="rId19" imgW="4322463" imgH="10763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15549" y="992876"/>
                        <a:ext cx="3971280" cy="988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箭头: 上弧形 32">
            <a:extLst>
              <a:ext uri="{FF2B5EF4-FFF2-40B4-BE49-F238E27FC236}">
                <a16:creationId xmlns:a16="http://schemas.microsoft.com/office/drawing/2014/main" id="{23E91E6B-7091-43E2-889D-23FA60D336DF}"/>
              </a:ext>
            </a:extLst>
          </p:cNvPr>
          <p:cNvSpPr/>
          <p:nvPr/>
        </p:nvSpPr>
        <p:spPr>
          <a:xfrm flipH="1">
            <a:off x="4487945" y="861702"/>
            <a:ext cx="1073683" cy="17783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2D5814C-9BB6-40EF-8A04-6F09BF304A7D}"/>
              </a:ext>
            </a:extLst>
          </p:cNvPr>
          <p:cNvSpPr txBox="1"/>
          <p:nvPr/>
        </p:nvSpPr>
        <p:spPr>
          <a:xfrm>
            <a:off x="3466224" y="1063027"/>
            <a:ext cx="1360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KKT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条件用于导出辅助变量的封闭形式解</a:t>
            </a:r>
            <a:endParaRPr lang="zh-CN" altLang="en-US" dirty="0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C9642707-ACE5-4891-AD9B-30A9246E3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378912"/>
              </p:ext>
            </p:extLst>
          </p:nvPr>
        </p:nvGraphicFramePr>
        <p:xfrm>
          <a:off x="5228595" y="2049957"/>
          <a:ext cx="3160713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2" name="Equation" r:id="rId21" imgW="3160882" imgH="1876254" progId="Equation.DSMT4">
                  <p:embed/>
                </p:oleObj>
              </mc:Choice>
              <mc:Fallback>
                <p:oleObj name="Equation" r:id="rId21" imgW="3160882" imgH="187625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28595" y="2049957"/>
                        <a:ext cx="3160713" cy="187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24BEFB8A-A07E-4F47-930D-A7CA33F7B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234175"/>
              </p:ext>
            </p:extLst>
          </p:nvPr>
        </p:nvGraphicFramePr>
        <p:xfrm>
          <a:off x="5156234" y="3994654"/>
          <a:ext cx="3713048" cy="845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3" name="Equation" r:id="rId23" imgW="4598465" imgH="1047563" progId="Equation.DSMT4">
                  <p:embed/>
                </p:oleObj>
              </mc:Choice>
              <mc:Fallback>
                <p:oleObj name="Equation" r:id="rId23" imgW="4598465" imgH="104756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6234" y="3994654"/>
                        <a:ext cx="3713048" cy="845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0905496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01448"/>
            <a:ext cx="8640960" cy="421778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02936" y="297392"/>
            <a:ext cx="671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碳共享的分布式迭代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69BD-8D53-4840-987D-51D04A99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0879FE-BFF7-F548-4453-3A3EC65EFBC8}"/>
              </a:ext>
            </a:extLst>
          </p:cNvPr>
          <p:cNvSpPr txBox="1"/>
          <p:nvPr/>
        </p:nvSpPr>
        <p:spPr>
          <a:xfrm>
            <a:off x="484460" y="861702"/>
            <a:ext cx="2011974" cy="27699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拉格朗日乘子的更新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2EF275-70A8-4127-E226-9D9418197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B710AD3-7E90-D7D8-26F8-9BC31D1E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0179719-5E30-F0CC-E879-4B137FB3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1E11E57-49AC-CAA4-79E5-8DFE818E5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2694A821-4A6A-629D-BDFE-BA55773A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7D1EDDA4-E04F-000E-5085-9638B838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2F20214F-3692-32C4-8084-C6A593CFF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5D40AF57-6FB9-2E94-D826-9865C6AC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8FECC3A5-0AE0-63F2-710D-9AA9F047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A04160-4BD8-5042-5852-E2B46290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256F1F5-3B19-555C-D70F-E1C73EEC2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4D96920F-5B27-D1F1-8D80-9D846272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F7B994CC-5A20-53D4-A3BE-BB6F766B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9" name="Rectangle 10">
            <a:extLst>
              <a:ext uri="{FF2B5EF4-FFF2-40B4-BE49-F238E27FC236}">
                <a16:creationId xmlns:a16="http://schemas.microsoft.com/office/drawing/2014/main" id="{135E968E-1C60-2CEC-5FCB-B1A90D07E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780621D-4266-3146-6A43-8F31F1692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279FF92-B74F-44E0-A370-C0F86877C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91861"/>
              </p:ext>
            </p:extLst>
          </p:nvPr>
        </p:nvGraphicFramePr>
        <p:xfrm>
          <a:off x="500112" y="1249252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1" name="Equation" r:id="rId5" imgW="1371011" imgH="457184" progId="Equation.DSMT4">
                  <p:embed/>
                </p:oleObj>
              </mc:Choice>
              <mc:Fallback>
                <p:oleObj name="Equation" r:id="rId5" imgW="1371011" imgH="4571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112" y="1249252"/>
                        <a:ext cx="1371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0305281-4A84-4451-AB88-9B986A697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016095"/>
              </p:ext>
            </p:extLst>
          </p:nvPr>
        </p:nvGraphicFramePr>
        <p:xfrm>
          <a:off x="465068" y="1691138"/>
          <a:ext cx="2565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2" name="Equation" r:id="rId7" imgW="2565360" imgH="1218960" progId="Equation.DSMT4">
                  <p:embed/>
                </p:oleObj>
              </mc:Choice>
              <mc:Fallback>
                <p:oleObj name="Equation" r:id="rId7" imgW="256536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068" y="1691138"/>
                        <a:ext cx="25654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" name="图片 62">
            <a:extLst>
              <a:ext uri="{FF2B5EF4-FFF2-40B4-BE49-F238E27FC236}">
                <a16:creationId xmlns:a16="http://schemas.microsoft.com/office/drawing/2014/main" id="{BDAD6EC4-7A15-4602-9787-2EA6944ED1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8159" y="981530"/>
            <a:ext cx="5632313" cy="399600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89ABB49B-76C1-481C-9876-8D3876318A5B}"/>
              </a:ext>
            </a:extLst>
          </p:cNvPr>
          <p:cNvSpPr/>
          <p:nvPr/>
        </p:nvSpPr>
        <p:spPr>
          <a:xfrm>
            <a:off x="482952" y="3082157"/>
            <a:ext cx="2547516" cy="1867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应用于求解电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碳优化模型，与每个滚动优化过程一起执行，以在较小的时间范围内重新调整电力共享，用于解决前一天的计划和实时实际碳输送之间的偏差。</a:t>
            </a:r>
          </a:p>
        </p:txBody>
      </p:sp>
    </p:spTree>
    <p:extLst>
      <p:ext uri="{BB962C8B-B14F-4D97-AF65-F5344CB8AC3E}">
        <p14:creationId xmlns:p14="http://schemas.microsoft.com/office/powerpoint/2010/main" val="391546824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55576" y="234387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电碳联合运行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低碳性分析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A548F-6032-5C14-BAD0-B5BA41D3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29A4088-F034-3739-BD0E-493A9C2D1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77FF763-F646-1C94-AA67-1E64A4D7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9F0D26D1-7C7D-42F8-3AAB-E3D11329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B1193B86-35BB-82B4-DF78-02191CCA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75AC47F-94D7-51A5-E89B-C2F134D7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27C3C8CC-0C30-2B28-C219-CE6F66D8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D4259401-32C2-A415-E0B6-39B1E5104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FB57395B-D826-0C70-B749-B162FFC8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1CFDCE-EB22-6204-63F3-D7E66E9A6A76}"/>
              </a:ext>
            </a:extLst>
          </p:cNvPr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5FA9B3-AE3C-480D-B3C0-72B0CF551A7D}"/>
              </a:ext>
            </a:extLst>
          </p:cNvPr>
          <p:cNvSpPr txBox="1"/>
          <p:nvPr/>
        </p:nvSpPr>
        <p:spPr>
          <a:xfrm>
            <a:off x="883694" y="4560258"/>
            <a:ext cx="2593846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动态排放因子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C8060DF-056F-B2E7-4EF7-C20DC1E9F0EC}"/>
              </a:ext>
            </a:extLst>
          </p:cNvPr>
          <p:cNvSpPr txBox="1"/>
          <p:nvPr/>
        </p:nvSpPr>
        <p:spPr>
          <a:xfrm>
            <a:off x="5480501" y="4560259"/>
            <a:ext cx="2593843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碳成本构成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14625D-D63D-4673-A66E-464DE80D4EBB}"/>
              </a:ext>
            </a:extLst>
          </p:cNvPr>
          <p:cNvSpPr/>
          <p:nvPr/>
        </p:nvSpPr>
        <p:spPr>
          <a:xfrm>
            <a:off x="304800" y="975318"/>
            <a:ext cx="8483686" cy="5949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根据碳排放理论可知，基于动态碳排放因子的时空分布特性，构建云储能与柔性负荷的协同调度策略，可有效实现电力需求的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时空转移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，进而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优化用能曲线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以降低用户碳排放。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BD207D5-E4C7-45BD-B68D-0F2A8C46A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00" y="1871320"/>
            <a:ext cx="3726926" cy="268236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BC77979-C250-4170-9559-06213B8E3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429" y="1644270"/>
            <a:ext cx="4411132" cy="295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32214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55576" y="234387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优化调度结果分析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A548F-6032-5C14-BAD0-B5BA41D3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29A4088-F034-3739-BD0E-493A9C2D1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77FF763-F646-1C94-AA67-1E64A4D7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9F0D26D1-7C7D-42F8-3AAB-E3D11329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B1193B86-35BB-82B4-DF78-02191CCA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75AC47F-94D7-51A5-E89B-C2F134D7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27C3C8CC-0C30-2B28-C219-CE6F66D8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D4259401-32C2-A415-E0B6-39B1E5104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FB57395B-D826-0C70-B749-B162FFC8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1CFDCE-EB22-6204-63F3-D7E66E9A6A76}"/>
              </a:ext>
            </a:extLst>
          </p:cNvPr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5FA9B3-AE3C-480D-B3C0-72B0CF551A7D}"/>
              </a:ext>
            </a:extLst>
          </p:cNvPr>
          <p:cNvSpPr txBox="1"/>
          <p:nvPr/>
        </p:nvSpPr>
        <p:spPr>
          <a:xfrm>
            <a:off x="611560" y="4441924"/>
            <a:ext cx="1847076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VPP1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电功率平衡图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14625D-D63D-4673-A66E-464DE80D4EBB}"/>
              </a:ext>
            </a:extLst>
          </p:cNvPr>
          <p:cNvSpPr/>
          <p:nvPr/>
        </p:nvSpPr>
        <p:spPr>
          <a:xfrm>
            <a:off x="304800" y="975317"/>
            <a:ext cx="8483686" cy="13259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风电与光伏作为关键的可再生能源供应，在不同时间段内呈现显著的功率波动，云储能系统在调节供需平衡中发挥了重要作用。通过需求响应机制引导用户合理规范用电行为，负荷曲线则直观地反映了电力需求的日常变化模式。电价在一天中呈现出明显的波动趋势，反映了各个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在电价策略或市场条件下的不同表现。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间的电能交互的情况反映了虚拟电厂在电力系统中的动态调节功能。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ECAE0A-4060-4793-9154-EF7160F3D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32" y="2393887"/>
            <a:ext cx="2944800" cy="1977269"/>
          </a:xfrm>
          <a:prstGeom prst="rect">
            <a:avLst/>
          </a:prstGeom>
        </p:spPr>
      </p:pic>
      <p:pic>
        <p:nvPicPr>
          <p:cNvPr id="36866" name="Picture 2">
            <a:extLst>
              <a:ext uri="{FF2B5EF4-FFF2-40B4-BE49-F238E27FC236}">
                <a16:creationId xmlns:a16="http://schemas.microsoft.com/office/drawing/2014/main" id="{644F8E78-435D-43B9-935A-938768431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053" y="2368622"/>
            <a:ext cx="2944800" cy="193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>
            <a:extLst>
              <a:ext uri="{FF2B5EF4-FFF2-40B4-BE49-F238E27FC236}">
                <a16:creationId xmlns:a16="http://schemas.microsoft.com/office/drawing/2014/main" id="{64ABE483-2E7E-4F25-9C8D-353E1A144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853" y="2356308"/>
            <a:ext cx="2944800" cy="194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A607859A-FA43-4C42-933B-439D8D33266F}"/>
              </a:ext>
            </a:extLst>
          </p:cNvPr>
          <p:cNvSpPr txBox="1"/>
          <p:nvPr/>
        </p:nvSpPr>
        <p:spPr>
          <a:xfrm>
            <a:off x="3509612" y="4441924"/>
            <a:ext cx="1847076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间电价曲线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117308-B520-40FA-9BD5-C6C28BC86DC4}"/>
              </a:ext>
            </a:extLst>
          </p:cNvPr>
          <p:cNvSpPr txBox="1"/>
          <p:nvPr/>
        </p:nvSpPr>
        <p:spPr>
          <a:xfrm>
            <a:off x="6412660" y="4441923"/>
            <a:ext cx="1847076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间电能交互情况</a:t>
            </a:r>
          </a:p>
        </p:txBody>
      </p:sp>
    </p:spTree>
    <p:extLst>
      <p:ext uri="{BB962C8B-B14F-4D97-AF65-F5344CB8AC3E}">
        <p14:creationId xmlns:p14="http://schemas.microsoft.com/office/powerpoint/2010/main" val="1381947877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55576" y="234387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可拓展性分析</a:t>
            </a: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A6B23E6-15C6-4DE8-8EC3-4E4A8D4ADE6E}"/>
              </a:ext>
            </a:extLst>
          </p:cNvPr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68EFF27-C924-4D10-8CB5-13F177B5070B}"/>
              </a:ext>
            </a:extLst>
          </p:cNvPr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C6B319-2679-423E-8633-52A5112D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056EC-0C83-453F-9D43-82D1B9B9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138A54-B002-4962-B6D9-EADD5B940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25433E-13B7-4746-B5DC-633E92AA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A548F-6032-5C14-BAD0-B5BA41D3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29A4088-F034-3739-BD0E-493A9C2D1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77FF763-F646-1C94-AA67-1E64A4D7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9F0D26D1-7C7D-42F8-3AAB-E3D11329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B1193B86-35BB-82B4-DF78-02191CCA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75AC47F-94D7-51A5-E89B-C2F134D7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27C3C8CC-0C30-2B28-C219-CE6F66D8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D4259401-32C2-A415-E0B6-39B1E5104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FB57395B-D826-0C70-B749-B162FFC8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1CFDCE-EB22-6204-63F3-D7E66E9A6A76}"/>
              </a:ext>
            </a:extLst>
          </p:cNvPr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5FA9B3-AE3C-480D-B3C0-72B0CF551A7D}"/>
              </a:ext>
            </a:extLst>
          </p:cNvPr>
          <p:cNvSpPr txBox="1"/>
          <p:nvPr/>
        </p:nvSpPr>
        <p:spPr>
          <a:xfrm>
            <a:off x="883694" y="4560258"/>
            <a:ext cx="2593846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成本迭代曲线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C8060DF-056F-B2E7-4EF7-C20DC1E9F0EC}"/>
              </a:ext>
            </a:extLst>
          </p:cNvPr>
          <p:cNvSpPr txBox="1"/>
          <p:nvPr/>
        </p:nvSpPr>
        <p:spPr>
          <a:xfrm>
            <a:off x="5480501" y="4560259"/>
            <a:ext cx="2593843" cy="3077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残差变化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14625D-D63D-4673-A66E-464DE80D4EBB}"/>
              </a:ext>
            </a:extLst>
          </p:cNvPr>
          <p:cNvSpPr/>
          <p:nvPr/>
        </p:nvSpPr>
        <p:spPr>
          <a:xfrm>
            <a:off x="304800" y="975317"/>
            <a:ext cx="8483686" cy="875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05000"/>
              </a:lnSpc>
            </a:pP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的负荷和可再生能源发电都具有随机性，一定程度上会影响算法的求解速度，本章在第三章基础上，扩大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VPP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范围。仿真验证，累计迭代了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61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次，说明本文所提算法具有较好的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可扩展性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收敛性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6F69B25C-11A9-489E-A23D-3004E7A4C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71949"/>
            <a:ext cx="4098575" cy="269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>
            <a:extLst>
              <a:ext uri="{FF2B5EF4-FFF2-40B4-BE49-F238E27FC236}">
                <a16:creationId xmlns:a16="http://schemas.microsoft.com/office/drawing/2014/main" id="{3CE836F8-55AE-4568-AEDF-F7A23FBE7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295" y="1788914"/>
            <a:ext cx="4109978" cy="269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86304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34105" y="234387"/>
            <a:ext cx="1749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447D834-9A40-423F-9AB5-C79C0F133E1F}"/>
              </a:ext>
            </a:extLst>
          </p:cNvPr>
          <p:cNvSpPr/>
          <p:nvPr/>
        </p:nvSpPr>
        <p:spPr>
          <a:xfrm>
            <a:off x="194980" y="21936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7DC513-A314-4229-8BE0-6846CB79C631}"/>
              </a:ext>
            </a:extLst>
          </p:cNvPr>
          <p:cNvGrpSpPr/>
          <p:nvPr/>
        </p:nvGrpSpPr>
        <p:grpSpPr>
          <a:xfrm>
            <a:off x="251520" y="288210"/>
            <a:ext cx="406580" cy="407842"/>
            <a:chOff x="3020219" y="1344612"/>
            <a:chExt cx="511175" cy="512763"/>
          </a:xfrm>
          <a:solidFill>
            <a:schemeClr val="bg1"/>
          </a:solidFill>
        </p:grpSpPr>
        <p:sp>
          <p:nvSpPr>
            <p:cNvPr id="16" name="Freeform 109">
              <a:extLst>
                <a:ext uri="{FF2B5EF4-FFF2-40B4-BE49-F238E27FC236}">
                  <a16:creationId xmlns:a16="http://schemas.microsoft.com/office/drawing/2014/main" id="{741C2600-0B54-44DA-ADFA-5F9191B3C4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2144" y="1344612"/>
              <a:ext cx="187325" cy="512763"/>
            </a:xfrm>
            <a:custGeom>
              <a:avLst/>
              <a:gdLst>
                <a:gd name="T0" fmla="*/ 57 w 113"/>
                <a:gd name="T1" fmla="*/ 0 h 307"/>
                <a:gd name="T2" fmla="*/ 0 w 113"/>
                <a:gd name="T3" fmla="*/ 153 h 307"/>
                <a:gd name="T4" fmla="*/ 57 w 113"/>
                <a:gd name="T5" fmla="*/ 307 h 307"/>
                <a:gd name="T6" fmla="*/ 113 w 113"/>
                <a:gd name="T7" fmla="*/ 153 h 307"/>
                <a:gd name="T8" fmla="*/ 57 w 113"/>
                <a:gd name="T9" fmla="*/ 0 h 307"/>
                <a:gd name="T10" fmla="*/ 57 w 113"/>
                <a:gd name="T11" fmla="*/ 282 h 307"/>
                <a:gd name="T12" fmla="*/ 9 w 113"/>
                <a:gd name="T13" fmla="*/ 153 h 307"/>
                <a:gd name="T14" fmla="*/ 57 w 113"/>
                <a:gd name="T15" fmla="*/ 25 h 307"/>
                <a:gd name="T16" fmla="*/ 104 w 113"/>
                <a:gd name="T17" fmla="*/ 153 h 307"/>
                <a:gd name="T18" fmla="*/ 57 w 113"/>
                <a:gd name="T19" fmla="*/ 282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307">
                  <a:moveTo>
                    <a:pt x="57" y="0"/>
                  </a:moveTo>
                  <a:cubicBezTo>
                    <a:pt x="25" y="0"/>
                    <a:pt x="0" y="69"/>
                    <a:pt x="0" y="153"/>
                  </a:cubicBezTo>
                  <a:cubicBezTo>
                    <a:pt x="0" y="238"/>
                    <a:pt x="25" y="307"/>
                    <a:pt x="57" y="307"/>
                  </a:cubicBezTo>
                  <a:cubicBezTo>
                    <a:pt x="88" y="307"/>
                    <a:pt x="113" y="238"/>
                    <a:pt x="113" y="153"/>
                  </a:cubicBezTo>
                  <a:cubicBezTo>
                    <a:pt x="113" y="69"/>
                    <a:pt x="88" y="0"/>
                    <a:pt x="57" y="0"/>
                  </a:cubicBezTo>
                  <a:close/>
                  <a:moveTo>
                    <a:pt x="57" y="282"/>
                  </a:moveTo>
                  <a:cubicBezTo>
                    <a:pt x="30" y="282"/>
                    <a:pt x="9" y="224"/>
                    <a:pt x="9" y="153"/>
                  </a:cubicBezTo>
                  <a:cubicBezTo>
                    <a:pt x="9" y="82"/>
                    <a:pt x="30" y="25"/>
                    <a:pt x="57" y="25"/>
                  </a:cubicBezTo>
                  <a:cubicBezTo>
                    <a:pt x="83" y="25"/>
                    <a:pt x="104" y="82"/>
                    <a:pt x="104" y="153"/>
                  </a:cubicBezTo>
                  <a:cubicBezTo>
                    <a:pt x="104" y="224"/>
                    <a:pt x="83" y="282"/>
                    <a:pt x="5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0">
              <a:extLst>
                <a:ext uri="{FF2B5EF4-FFF2-40B4-BE49-F238E27FC236}">
                  <a16:creationId xmlns:a16="http://schemas.microsoft.com/office/drawing/2014/main" id="{FAA22594-3385-4A65-BF11-47B31E9A5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0219" y="1506538"/>
              <a:ext cx="511175" cy="188913"/>
            </a:xfrm>
            <a:custGeom>
              <a:avLst/>
              <a:gdLst>
                <a:gd name="T0" fmla="*/ 307 w 307"/>
                <a:gd name="T1" fmla="*/ 56 h 113"/>
                <a:gd name="T2" fmla="*/ 154 w 307"/>
                <a:gd name="T3" fmla="*/ 0 h 113"/>
                <a:gd name="T4" fmla="*/ 0 w 307"/>
                <a:gd name="T5" fmla="*/ 56 h 113"/>
                <a:gd name="T6" fmla="*/ 154 w 307"/>
                <a:gd name="T7" fmla="*/ 113 h 113"/>
                <a:gd name="T8" fmla="*/ 307 w 307"/>
                <a:gd name="T9" fmla="*/ 56 h 113"/>
                <a:gd name="T10" fmla="*/ 25 w 307"/>
                <a:gd name="T11" fmla="*/ 56 h 113"/>
                <a:gd name="T12" fmla="*/ 154 w 307"/>
                <a:gd name="T13" fmla="*/ 9 h 113"/>
                <a:gd name="T14" fmla="*/ 282 w 307"/>
                <a:gd name="T15" fmla="*/ 56 h 113"/>
                <a:gd name="T16" fmla="*/ 154 w 307"/>
                <a:gd name="T17" fmla="*/ 104 h 113"/>
                <a:gd name="T18" fmla="*/ 25 w 307"/>
                <a:gd name="T19" fmla="*/ 5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7" h="113">
                  <a:moveTo>
                    <a:pt x="307" y="56"/>
                  </a:moveTo>
                  <a:cubicBezTo>
                    <a:pt x="307" y="25"/>
                    <a:pt x="238" y="0"/>
                    <a:pt x="154" y="0"/>
                  </a:cubicBezTo>
                  <a:cubicBezTo>
                    <a:pt x="69" y="0"/>
                    <a:pt x="0" y="25"/>
                    <a:pt x="0" y="56"/>
                  </a:cubicBezTo>
                  <a:cubicBezTo>
                    <a:pt x="0" y="88"/>
                    <a:pt x="69" y="113"/>
                    <a:pt x="154" y="113"/>
                  </a:cubicBezTo>
                  <a:cubicBezTo>
                    <a:pt x="238" y="113"/>
                    <a:pt x="307" y="88"/>
                    <a:pt x="307" y="56"/>
                  </a:cubicBezTo>
                  <a:close/>
                  <a:moveTo>
                    <a:pt x="25" y="56"/>
                  </a:moveTo>
                  <a:cubicBezTo>
                    <a:pt x="25" y="30"/>
                    <a:pt x="83" y="9"/>
                    <a:pt x="154" y="9"/>
                  </a:cubicBezTo>
                  <a:cubicBezTo>
                    <a:pt x="225" y="9"/>
                    <a:pt x="282" y="30"/>
                    <a:pt x="282" y="56"/>
                  </a:cubicBezTo>
                  <a:cubicBezTo>
                    <a:pt x="282" y="82"/>
                    <a:pt x="225" y="104"/>
                    <a:pt x="154" y="104"/>
                  </a:cubicBezTo>
                  <a:cubicBezTo>
                    <a:pt x="83" y="104"/>
                    <a:pt x="25" y="82"/>
                    <a:pt x="25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1">
              <a:extLst>
                <a:ext uri="{FF2B5EF4-FFF2-40B4-BE49-F238E27FC236}">
                  <a16:creationId xmlns:a16="http://schemas.microsoft.com/office/drawing/2014/main" id="{957DBF69-33F5-4C34-B99B-F68B56535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2 h 261"/>
                <a:gd name="T2" fmla="*/ 91 w 261"/>
                <a:gd name="T3" fmla="*/ 90 h 261"/>
                <a:gd name="T4" fmla="*/ 22 w 261"/>
                <a:gd name="T5" fmla="*/ 239 h 261"/>
                <a:gd name="T6" fmla="*/ 171 w 261"/>
                <a:gd name="T7" fmla="*/ 170 h 261"/>
                <a:gd name="T8" fmla="*/ 239 w 261"/>
                <a:gd name="T9" fmla="*/ 22 h 261"/>
                <a:gd name="T10" fmla="*/ 40 w 261"/>
                <a:gd name="T11" fmla="*/ 221 h 261"/>
                <a:gd name="T12" fmla="*/ 97 w 261"/>
                <a:gd name="T13" fmla="*/ 97 h 261"/>
                <a:gd name="T14" fmla="*/ 221 w 261"/>
                <a:gd name="T15" fmla="*/ 39 h 261"/>
                <a:gd name="T16" fmla="*/ 164 w 261"/>
                <a:gd name="T17" fmla="*/ 164 h 261"/>
                <a:gd name="T18" fmla="*/ 40 w 261"/>
                <a:gd name="T19" fmla="*/ 22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2"/>
                  </a:moveTo>
                  <a:cubicBezTo>
                    <a:pt x="217" y="0"/>
                    <a:pt x="150" y="30"/>
                    <a:pt x="91" y="90"/>
                  </a:cubicBezTo>
                  <a:cubicBezTo>
                    <a:pt x="31" y="150"/>
                    <a:pt x="0" y="217"/>
                    <a:pt x="22" y="239"/>
                  </a:cubicBezTo>
                  <a:cubicBezTo>
                    <a:pt x="44" y="261"/>
                    <a:pt x="111" y="230"/>
                    <a:pt x="171" y="170"/>
                  </a:cubicBezTo>
                  <a:cubicBezTo>
                    <a:pt x="230" y="110"/>
                    <a:pt x="261" y="44"/>
                    <a:pt x="239" y="22"/>
                  </a:cubicBezTo>
                  <a:close/>
                  <a:moveTo>
                    <a:pt x="40" y="221"/>
                  </a:moveTo>
                  <a:cubicBezTo>
                    <a:pt x="21" y="203"/>
                    <a:pt x="47" y="147"/>
                    <a:pt x="97" y="97"/>
                  </a:cubicBezTo>
                  <a:cubicBezTo>
                    <a:pt x="147" y="47"/>
                    <a:pt x="203" y="21"/>
                    <a:pt x="221" y="39"/>
                  </a:cubicBezTo>
                  <a:cubicBezTo>
                    <a:pt x="240" y="58"/>
                    <a:pt x="214" y="114"/>
                    <a:pt x="164" y="164"/>
                  </a:cubicBezTo>
                  <a:cubicBezTo>
                    <a:pt x="114" y="214"/>
                    <a:pt x="58" y="240"/>
                    <a:pt x="40" y="2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2">
              <a:extLst>
                <a:ext uri="{FF2B5EF4-FFF2-40B4-BE49-F238E27FC236}">
                  <a16:creationId xmlns:a16="http://schemas.microsoft.com/office/drawing/2014/main" id="{1B14334A-9FE5-4687-AA2C-72036D97AA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39 h 261"/>
                <a:gd name="T2" fmla="*/ 171 w 261"/>
                <a:gd name="T3" fmla="*/ 90 h 261"/>
                <a:gd name="T4" fmla="*/ 22 w 261"/>
                <a:gd name="T5" fmla="*/ 22 h 261"/>
                <a:gd name="T6" fmla="*/ 91 w 261"/>
                <a:gd name="T7" fmla="*/ 170 h 261"/>
                <a:gd name="T8" fmla="*/ 239 w 261"/>
                <a:gd name="T9" fmla="*/ 239 h 261"/>
                <a:gd name="T10" fmla="*/ 40 w 261"/>
                <a:gd name="T11" fmla="*/ 39 h 261"/>
                <a:gd name="T12" fmla="*/ 164 w 261"/>
                <a:gd name="T13" fmla="*/ 97 h 261"/>
                <a:gd name="T14" fmla="*/ 221 w 261"/>
                <a:gd name="T15" fmla="*/ 221 h 261"/>
                <a:gd name="T16" fmla="*/ 97 w 261"/>
                <a:gd name="T17" fmla="*/ 164 h 261"/>
                <a:gd name="T18" fmla="*/ 40 w 261"/>
                <a:gd name="T19" fmla="*/ 39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39"/>
                  </a:moveTo>
                  <a:cubicBezTo>
                    <a:pt x="261" y="217"/>
                    <a:pt x="230" y="150"/>
                    <a:pt x="171" y="90"/>
                  </a:cubicBezTo>
                  <a:cubicBezTo>
                    <a:pt x="111" y="30"/>
                    <a:pt x="44" y="0"/>
                    <a:pt x="22" y="22"/>
                  </a:cubicBezTo>
                  <a:cubicBezTo>
                    <a:pt x="0" y="44"/>
                    <a:pt x="31" y="110"/>
                    <a:pt x="91" y="170"/>
                  </a:cubicBezTo>
                  <a:cubicBezTo>
                    <a:pt x="150" y="230"/>
                    <a:pt x="217" y="261"/>
                    <a:pt x="239" y="239"/>
                  </a:cubicBezTo>
                  <a:close/>
                  <a:moveTo>
                    <a:pt x="40" y="39"/>
                  </a:moveTo>
                  <a:cubicBezTo>
                    <a:pt x="58" y="21"/>
                    <a:pt x="114" y="47"/>
                    <a:pt x="164" y="97"/>
                  </a:cubicBezTo>
                  <a:cubicBezTo>
                    <a:pt x="214" y="147"/>
                    <a:pt x="240" y="203"/>
                    <a:pt x="221" y="221"/>
                  </a:cubicBezTo>
                  <a:cubicBezTo>
                    <a:pt x="203" y="240"/>
                    <a:pt x="147" y="214"/>
                    <a:pt x="97" y="164"/>
                  </a:cubicBezTo>
                  <a:cubicBezTo>
                    <a:pt x="47" y="114"/>
                    <a:pt x="21" y="5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113">
              <a:extLst>
                <a:ext uri="{FF2B5EF4-FFF2-40B4-BE49-F238E27FC236}">
                  <a16:creationId xmlns:a16="http://schemas.microsoft.com/office/drawing/2014/main" id="{63D024E9-E25E-420D-A474-52A2925C9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119" y="1562100"/>
              <a:ext cx="79375" cy="7778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978E2C-79DB-EDBC-CECE-01D2EA9A90C8}"/>
              </a:ext>
            </a:extLst>
          </p:cNvPr>
          <p:cNvSpPr/>
          <p:nvPr/>
        </p:nvSpPr>
        <p:spPr>
          <a:xfrm>
            <a:off x="403976" y="980731"/>
            <a:ext cx="1653902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本文工作总结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D1067F-E6DD-C4AE-D1C7-710F5F2EB860}"/>
              </a:ext>
            </a:extLst>
          </p:cNvPr>
          <p:cNvSpPr txBox="1"/>
          <p:nvPr/>
        </p:nvSpPr>
        <p:spPr>
          <a:xfrm>
            <a:off x="403976" y="1418754"/>
            <a:ext cx="8344488" cy="352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）本文分析了分布式资源的特点，构建了含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垃圾焚烧和碳捕集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电厂的虚拟电厂模型，提出了含垃圾焚烧的多虚拟电厂能量互补优化调度策略。通过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ADMM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实现分布式优化调度，保护了各参与主体的运行隐私，同时提高了系统的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低碳经济性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和灵活稳定性。</a:t>
            </a:r>
            <a:endParaRPr lang="en-US" altLang="zh-CN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）本文引入了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云储能技术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，提出配电网背景下兼顾环境效益的云储能和多虚拟电厂之间的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混合博弈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双层能量优化运行策略。通过构建上层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CSO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收益最大化、下层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MVPP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成本最小化的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主从博弈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模型，结合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纳什谈判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理论，构建多虚拟电厂之间的合作博弈，实现了多虚拟电厂间的能量互济交易策略。仿真验证了该策略在提升云储能与虚拟电厂效益、保护数据隐私、提升虚拟电厂自治能力方面的有效性。</a:t>
            </a:r>
            <a:endParaRPr lang="en-US" altLang="zh-CN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）本文研究了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碳联合市场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下多虚拟电厂调度运行策略，构建了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碳配额分配和差异化的碳排放奖惩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联合作用下的碳交易机制，提出了基于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动态碳排放因子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的多虚拟电厂电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碳联合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双重博弈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优化运行方法。通过改进的电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碳优化策略，实现了多虚拟电厂间的协同合作，降低了碳排放和系统运行成本，寻找了经济价值和环境价值的平衡点。</a:t>
            </a:r>
          </a:p>
        </p:txBody>
      </p:sp>
    </p:spTree>
    <p:extLst>
      <p:ext uri="{BB962C8B-B14F-4D97-AF65-F5344CB8AC3E}">
        <p14:creationId xmlns:p14="http://schemas.microsoft.com/office/powerpoint/2010/main" val="3710530365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734105" y="234387"/>
            <a:ext cx="3549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447D834-9A40-423F-9AB5-C79C0F133E1F}"/>
              </a:ext>
            </a:extLst>
          </p:cNvPr>
          <p:cNvSpPr/>
          <p:nvPr/>
        </p:nvSpPr>
        <p:spPr>
          <a:xfrm>
            <a:off x="194980" y="21936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7DC513-A314-4229-8BE0-6846CB79C631}"/>
              </a:ext>
            </a:extLst>
          </p:cNvPr>
          <p:cNvGrpSpPr/>
          <p:nvPr/>
        </p:nvGrpSpPr>
        <p:grpSpPr>
          <a:xfrm>
            <a:off x="251520" y="288210"/>
            <a:ext cx="406580" cy="407842"/>
            <a:chOff x="3020219" y="1344612"/>
            <a:chExt cx="511175" cy="512763"/>
          </a:xfrm>
          <a:solidFill>
            <a:schemeClr val="bg1"/>
          </a:solidFill>
        </p:grpSpPr>
        <p:sp>
          <p:nvSpPr>
            <p:cNvPr id="16" name="Freeform 109">
              <a:extLst>
                <a:ext uri="{FF2B5EF4-FFF2-40B4-BE49-F238E27FC236}">
                  <a16:creationId xmlns:a16="http://schemas.microsoft.com/office/drawing/2014/main" id="{741C2600-0B54-44DA-ADFA-5F9191B3C4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2144" y="1344612"/>
              <a:ext cx="187325" cy="512763"/>
            </a:xfrm>
            <a:custGeom>
              <a:avLst/>
              <a:gdLst>
                <a:gd name="T0" fmla="*/ 57 w 113"/>
                <a:gd name="T1" fmla="*/ 0 h 307"/>
                <a:gd name="T2" fmla="*/ 0 w 113"/>
                <a:gd name="T3" fmla="*/ 153 h 307"/>
                <a:gd name="T4" fmla="*/ 57 w 113"/>
                <a:gd name="T5" fmla="*/ 307 h 307"/>
                <a:gd name="T6" fmla="*/ 113 w 113"/>
                <a:gd name="T7" fmla="*/ 153 h 307"/>
                <a:gd name="T8" fmla="*/ 57 w 113"/>
                <a:gd name="T9" fmla="*/ 0 h 307"/>
                <a:gd name="T10" fmla="*/ 57 w 113"/>
                <a:gd name="T11" fmla="*/ 282 h 307"/>
                <a:gd name="T12" fmla="*/ 9 w 113"/>
                <a:gd name="T13" fmla="*/ 153 h 307"/>
                <a:gd name="T14" fmla="*/ 57 w 113"/>
                <a:gd name="T15" fmla="*/ 25 h 307"/>
                <a:gd name="T16" fmla="*/ 104 w 113"/>
                <a:gd name="T17" fmla="*/ 153 h 307"/>
                <a:gd name="T18" fmla="*/ 57 w 113"/>
                <a:gd name="T19" fmla="*/ 282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307">
                  <a:moveTo>
                    <a:pt x="57" y="0"/>
                  </a:moveTo>
                  <a:cubicBezTo>
                    <a:pt x="25" y="0"/>
                    <a:pt x="0" y="69"/>
                    <a:pt x="0" y="153"/>
                  </a:cubicBezTo>
                  <a:cubicBezTo>
                    <a:pt x="0" y="238"/>
                    <a:pt x="25" y="307"/>
                    <a:pt x="57" y="307"/>
                  </a:cubicBezTo>
                  <a:cubicBezTo>
                    <a:pt x="88" y="307"/>
                    <a:pt x="113" y="238"/>
                    <a:pt x="113" y="153"/>
                  </a:cubicBezTo>
                  <a:cubicBezTo>
                    <a:pt x="113" y="69"/>
                    <a:pt x="88" y="0"/>
                    <a:pt x="57" y="0"/>
                  </a:cubicBezTo>
                  <a:close/>
                  <a:moveTo>
                    <a:pt x="57" y="282"/>
                  </a:moveTo>
                  <a:cubicBezTo>
                    <a:pt x="30" y="282"/>
                    <a:pt x="9" y="224"/>
                    <a:pt x="9" y="153"/>
                  </a:cubicBezTo>
                  <a:cubicBezTo>
                    <a:pt x="9" y="82"/>
                    <a:pt x="30" y="25"/>
                    <a:pt x="57" y="25"/>
                  </a:cubicBezTo>
                  <a:cubicBezTo>
                    <a:pt x="83" y="25"/>
                    <a:pt x="104" y="82"/>
                    <a:pt x="104" y="153"/>
                  </a:cubicBezTo>
                  <a:cubicBezTo>
                    <a:pt x="104" y="224"/>
                    <a:pt x="83" y="282"/>
                    <a:pt x="5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0">
              <a:extLst>
                <a:ext uri="{FF2B5EF4-FFF2-40B4-BE49-F238E27FC236}">
                  <a16:creationId xmlns:a16="http://schemas.microsoft.com/office/drawing/2014/main" id="{FAA22594-3385-4A65-BF11-47B31E9A5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0219" y="1506538"/>
              <a:ext cx="511175" cy="188913"/>
            </a:xfrm>
            <a:custGeom>
              <a:avLst/>
              <a:gdLst>
                <a:gd name="T0" fmla="*/ 307 w 307"/>
                <a:gd name="T1" fmla="*/ 56 h 113"/>
                <a:gd name="T2" fmla="*/ 154 w 307"/>
                <a:gd name="T3" fmla="*/ 0 h 113"/>
                <a:gd name="T4" fmla="*/ 0 w 307"/>
                <a:gd name="T5" fmla="*/ 56 h 113"/>
                <a:gd name="T6" fmla="*/ 154 w 307"/>
                <a:gd name="T7" fmla="*/ 113 h 113"/>
                <a:gd name="T8" fmla="*/ 307 w 307"/>
                <a:gd name="T9" fmla="*/ 56 h 113"/>
                <a:gd name="T10" fmla="*/ 25 w 307"/>
                <a:gd name="T11" fmla="*/ 56 h 113"/>
                <a:gd name="T12" fmla="*/ 154 w 307"/>
                <a:gd name="T13" fmla="*/ 9 h 113"/>
                <a:gd name="T14" fmla="*/ 282 w 307"/>
                <a:gd name="T15" fmla="*/ 56 h 113"/>
                <a:gd name="T16" fmla="*/ 154 w 307"/>
                <a:gd name="T17" fmla="*/ 104 h 113"/>
                <a:gd name="T18" fmla="*/ 25 w 307"/>
                <a:gd name="T19" fmla="*/ 5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7" h="113">
                  <a:moveTo>
                    <a:pt x="307" y="56"/>
                  </a:moveTo>
                  <a:cubicBezTo>
                    <a:pt x="307" y="25"/>
                    <a:pt x="238" y="0"/>
                    <a:pt x="154" y="0"/>
                  </a:cubicBezTo>
                  <a:cubicBezTo>
                    <a:pt x="69" y="0"/>
                    <a:pt x="0" y="25"/>
                    <a:pt x="0" y="56"/>
                  </a:cubicBezTo>
                  <a:cubicBezTo>
                    <a:pt x="0" y="88"/>
                    <a:pt x="69" y="113"/>
                    <a:pt x="154" y="113"/>
                  </a:cubicBezTo>
                  <a:cubicBezTo>
                    <a:pt x="238" y="113"/>
                    <a:pt x="307" y="88"/>
                    <a:pt x="307" y="56"/>
                  </a:cubicBezTo>
                  <a:close/>
                  <a:moveTo>
                    <a:pt x="25" y="56"/>
                  </a:moveTo>
                  <a:cubicBezTo>
                    <a:pt x="25" y="30"/>
                    <a:pt x="83" y="9"/>
                    <a:pt x="154" y="9"/>
                  </a:cubicBezTo>
                  <a:cubicBezTo>
                    <a:pt x="225" y="9"/>
                    <a:pt x="282" y="30"/>
                    <a:pt x="282" y="56"/>
                  </a:cubicBezTo>
                  <a:cubicBezTo>
                    <a:pt x="282" y="82"/>
                    <a:pt x="225" y="104"/>
                    <a:pt x="154" y="104"/>
                  </a:cubicBezTo>
                  <a:cubicBezTo>
                    <a:pt x="83" y="104"/>
                    <a:pt x="25" y="82"/>
                    <a:pt x="25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1">
              <a:extLst>
                <a:ext uri="{FF2B5EF4-FFF2-40B4-BE49-F238E27FC236}">
                  <a16:creationId xmlns:a16="http://schemas.microsoft.com/office/drawing/2014/main" id="{957DBF69-33F5-4C34-B99B-F68B56535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2 h 261"/>
                <a:gd name="T2" fmla="*/ 91 w 261"/>
                <a:gd name="T3" fmla="*/ 90 h 261"/>
                <a:gd name="T4" fmla="*/ 22 w 261"/>
                <a:gd name="T5" fmla="*/ 239 h 261"/>
                <a:gd name="T6" fmla="*/ 171 w 261"/>
                <a:gd name="T7" fmla="*/ 170 h 261"/>
                <a:gd name="T8" fmla="*/ 239 w 261"/>
                <a:gd name="T9" fmla="*/ 22 h 261"/>
                <a:gd name="T10" fmla="*/ 40 w 261"/>
                <a:gd name="T11" fmla="*/ 221 h 261"/>
                <a:gd name="T12" fmla="*/ 97 w 261"/>
                <a:gd name="T13" fmla="*/ 97 h 261"/>
                <a:gd name="T14" fmla="*/ 221 w 261"/>
                <a:gd name="T15" fmla="*/ 39 h 261"/>
                <a:gd name="T16" fmla="*/ 164 w 261"/>
                <a:gd name="T17" fmla="*/ 164 h 261"/>
                <a:gd name="T18" fmla="*/ 40 w 261"/>
                <a:gd name="T19" fmla="*/ 22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2"/>
                  </a:moveTo>
                  <a:cubicBezTo>
                    <a:pt x="217" y="0"/>
                    <a:pt x="150" y="30"/>
                    <a:pt x="91" y="90"/>
                  </a:cubicBezTo>
                  <a:cubicBezTo>
                    <a:pt x="31" y="150"/>
                    <a:pt x="0" y="217"/>
                    <a:pt x="22" y="239"/>
                  </a:cubicBezTo>
                  <a:cubicBezTo>
                    <a:pt x="44" y="261"/>
                    <a:pt x="111" y="230"/>
                    <a:pt x="171" y="170"/>
                  </a:cubicBezTo>
                  <a:cubicBezTo>
                    <a:pt x="230" y="110"/>
                    <a:pt x="261" y="44"/>
                    <a:pt x="239" y="22"/>
                  </a:cubicBezTo>
                  <a:close/>
                  <a:moveTo>
                    <a:pt x="40" y="221"/>
                  </a:moveTo>
                  <a:cubicBezTo>
                    <a:pt x="21" y="203"/>
                    <a:pt x="47" y="147"/>
                    <a:pt x="97" y="97"/>
                  </a:cubicBezTo>
                  <a:cubicBezTo>
                    <a:pt x="147" y="47"/>
                    <a:pt x="203" y="21"/>
                    <a:pt x="221" y="39"/>
                  </a:cubicBezTo>
                  <a:cubicBezTo>
                    <a:pt x="240" y="58"/>
                    <a:pt x="214" y="114"/>
                    <a:pt x="164" y="164"/>
                  </a:cubicBezTo>
                  <a:cubicBezTo>
                    <a:pt x="114" y="214"/>
                    <a:pt x="58" y="240"/>
                    <a:pt x="40" y="2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2">
              <a:extLst>
                <a:ext uri="{FF2B5EF4-FFF2-40B4-BE49-F238E27FC236}">
                  <a16:creationId xmlns:a16="http://schemas.microsoft.com/office/drawing/2014/main" id="{1B14334A-9FE5-4687-AA2C-72036D97AA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39 h 261"/>
                <a:gd name="T2" fmla="*/ 171 w 261"/>
                <a:gd name="T3" fmla="*/ 90 h 261"/>
                <a:gd name="T4" fmla="*/ 22 w 261"/>
                <a:gd name="T5" fmla="*/ 22 h 261"/>
                <a:gd name="T6" fmla="*/ 91 w 261"/>
                <a:gd name="T7" fmla="*/ 170 h 261"/>
                <a:gd name="T8" fmla="*/ 239 w 261"/>
                <a:gd name="T9" fmla="*/ 239 h 261"/>
                <a:gd name="T10" fmla="*/ 40 w 261"/>
                <a:gd name="T11" fmla="*/ 39 h 261"/>
                <a:gd name="T12" fmla="*/ 164 w 261"/>
                <a:gd name="T13" fmla="*/ 97 h 261"/>
                <a:gd name="T14" fmla="*/ 221 w 261"/>
                <a:gd name="T15" fmla="*/ 221 h 261"/>
                <a:gd name="T16" fmla="*/ 97 w 261"/>
                <a:gd name="T17" fmla="*/ 164 h 261"/>
                <a:gd name="T18" fmla="*/ 40 w 261"/>
                <a:gd name="T19" fmla="*/ 39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39"/>
                  </a:moveTo>
                  <a:cubicBezTo>
                    <a:pt x="261" y="217"/>
                    <a:pt x="230" y="150"/>
                    <a:pt x="171" y="90"/>
                  </a:cubicBezTo>
                  <a:cubicBezTo>
                    <a:pt x="111" y="30"/>
                    <a:pt x="44" y="0"/>
                    <a:pt x="22" y="22"/>
                  </a:cubicBezTo>
                  <a:cubicBezTo>
                    <a:pt x="0" y="44"/>
                    <a:pt x="31" y="110"/>
                    <a:pt x="91" y="170"/>
                  </a:cubicBezTo>
                  <a:cubicBezTo>
                    <a:pt x="150" y="230"/>
                    <a:pt x="217" y="261"/>
                    <a:pt x="239" y="239"/>
                  </a:cubicBezTo>
                  <a:close/>
                  <a:moveTo>
                    <a:pt x="40" y="39"/>
                  </a:moveTo>
                  <a:cubicBezTo>
                    <a:pt x="58" y="21"/>
                    <a:pt x="114" y="47"/>
                    <a:pt x="164" y="97"/>
                  </a:cubicBezTo>
                  <a:cubicBezTo>
                    <a:pt x="214" y="147"/>
                    <a:pt x="240" y="203"/>
                    <a:pt x="221" y="221"/>
                  </a:cubicBezTo>
                  <a:cubicBezTo>
                    <a:pt x="203" y="240"/>
                    <a:pt x="147" y="214"/>
                    <a:pt x="97" y="164"/>
                  </a:cubicBezTo>
                  <a:cubicBezTo>
                    <a:pt x="47" y="114"/>
                    <a:pt x="21" y="5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113">
              <a:extLst>
                <a:ext uri="{FF2B5EF4-FFF2-40B4-BE49-F238E27FC236}">
                  <a16:creationId xmlns:a16="http://schemas.microsoft.com/office/drawing/2014/main" id="{63D024E9-E25E-420D-A474-52A2925C9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119" y="1562100"/>
              <a:ext cx="79375" cy="7778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B5BA24-6D11-7F4B-2128-C51FBF2A23D7}"/>
              </a:ext>
            </a:extLst>
          </p:cNvPr>
          <p:cNvSpPr/>
          <p:nvPr/>
        </p:nvSpPr>
        <p:spPr>
          <a:xfrm>
            <a:off x="423243" y="986780"/>
            <a:ext cx="1641039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后续工作展望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2998BF-544C-CF85-AFC5-2F4360C5E2DB}"/>
              </a:ext>
            </a:extLst>
          </p:cNvPr>
          <p:cNvSpPr txBox="1"/>
          <p:nvPr/>
        </p:nvSpPr>
        <p:spPr>
          <a:xfrm>
            <a:off x="423243" y="1531170"/>
            <a:ext cx="8288457" cy="3239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）本文的研究主要基于静态模型，未充分考虑实际运行中的动态变化。未来研究可以进一步引入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动态优化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模型，考虑新能源出力的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实时波动性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和负荷需求的变化，提升系统的实时响应能力和鲁棒性。同时，可以结合机器学习和大数据技术，预测新能源出力和负荷需求，优化调度策略。</a:t>
            </a:r>
            <a:endParaRPr lang="en-US" altLang="zh-CN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）本文的研究主要集中在小规模的多虚拟电厂系统，未来可以扩展到更大规模的区域能源系统，研究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多区域互联的虚拟电厂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协同优化策略。通过引入更多的分布式能源和储能设备，探索多区域间的能量互济和资源共享机制，提升系统的整体效率和稳定性。</a:t>
            </a:r>
            <a:endParaRPr lang="en-US" altLang="zh-CN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）本文的研究主要基于电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碳联合市场的初步框架，未来可以进一步深入研究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</a:t>
            </a:r>
            <a:r>
              <a:rPr lang="en-US" altLang="zh-CN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碳市场的耦合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机制和</a:t>
            </a:r>
            <a:r>
              <a:rPr lang="zh-CN" altLang="en-US" sz="15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价格传导机制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。通过引入更多的市场参与主体，研究不同市场环境下的虚拟电厂优化策略，探索电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碳市场的协同发展路径，推动能源结构的低碳转型。结合实际工程案例，进行现场试验和验证，推动虚拟电厂技术的广泛应用和推广。</a:t>
            </a:r>
            <a:endParaRPr lang="en-US" altLang="zh-CN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01972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4C008E-6676-465D-B2DC-EFF709B08DCC}"/>
              </a:ext>
            </a:extLst>
          </p:cNvPr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464927-ECD6-420F-8221-795374B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88846"/>
            <a:ext cx="3026962" cy="60720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0DC8813-C001-452F-9DF6-D75D7D0C0B00}"/>
              </a:ext>
            </a:extLst>
          </p:cNvPr>
          <p:cNvSpPr txBox="1"/>
          <p:nvPr/>
        </p:nvSpPr>
        <p:spPr>
          <a:xfrm>
            <a:off x="680942" y="237083"/>
            <a:ext cx="3603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攻读硕士期间所做的工作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B746AA7B-6255-4606-BC30-B1911E354ADB}"/>
              </a:ext>
            </a:extLst>
          </p:cNvPr>
          <p:cNvSpPr/>
          <p:nvPr/>
        </p:nvSpPr>
        <p:spPr>
          <a:xfrm>
            <a:off x="198880" y="23438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FCBBBB07-D6B5-48C9-A848-E20B6ECAD9F3}"/>
              </a:ext>
            </a:extLst>
          </p:cNvPr>
          <p:cNvSpPr>
            <a:spLocks noEditPoints="1"/>
          </p:cNvSpPr>
          <p:nvPr/>
        </p:nvSpPr>
        <p:spPr bwMode="auto">
          <a:xfrm>
            <a:off x="344064" y="32740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26A0178-17CD-4FCE-B93C-C65C22E3BFEF}"/>
              </a:ext>
            </a:extLst>
          </p:cNvPr>
          <p:cNvSpPr/>
          <p:nvPr/>
        </p:nvSpPr>
        <p:spPr>
          <a:xfrm>
            <a:off x="467544" y="3089508"/>
            <a:ext cx="1152128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项目工作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15D95F-EB8B-465F-A049-F47B8FF91918}"/>
              </a:ext>
            </a:extLst>
          </p:cNvPr>
          <p:cNvSpPr/>
          <p:nvPr/>
        </p:nvSpPr>
        <p:spPr>
          <a:xfrm>
            <a:off x="1821240" y="3089508"/>
            <a:ext cx="6713482" cy="628568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889923-ACCD-4298-B4EF-74ACD1A71779}"/>
              </a:ext>
            </a:extLst>
          </p:cNvPr>
          <p:cNvSpPr txBox="1"/>
          <p:nvPr/>
        </p:nvSpPr>
        <p:spPr>
          <a:xfrm>
            <a:off x="1842924" y="3089508"/>
            <a:ext cx="6620173" cy="65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国网辽宁省电力有限公司抚顺供电公司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配电网故障信息的智能解析和知识型故障处理辅助决策研究与应用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</a:p>
          <a:p>
            <a:pPr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国网辽宁省电力有限公司电力科学研究院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考虑虚拟电厂聚合效应的新型配电网协同调控技术研究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</a:p>
          <a:p>
            <a:pPr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国网辽宁省电力有限公司葫芦岛供电公司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虚拟电厂用户隐私保护和服务质量保障策略研究与应用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90BFD6E-C36D-4D4C-9BA2-9E557F21EE0C}"/>
              </a:ext>
            </a:extLst>
          </p:cNvPr>
          <p:cNvSpPr/>
          <p:nvPr/>
        </p:nvSpPr>
        <p:spPr>
          <a:xfrm>
            <a:off x="467544" y="982970"/>
            <a:ext cx="1152128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论文成果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7B1556-BE05-4E44-B131-50DC29FFA82C}"/>
              </a:ext>
            </a:extLst>
          </p:cNvPr>
          <p:cNvSpPr/>
          <p:nvPr/>
        </p:nvSpPr>
        <p:spPr>
          <a:xfrm>
            <a:off x="1821240" y="982970"/>
            <a:ext cx="6713482" cy="1948026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BF12A4-98A2-4BC4-BD0E-E7F0ACA9B42F}"/>
              </a:ext>
            </a:extLst>
          </p:cNvPr>
          <p:cNvSpPr txBox="1"/>
          <p:nvPr/>
        </p:nvSpPr>
        <p:spPr>
          <a:xfrm>
            <a:off x="1867355" y="1022781"/>
            <a:ext cx="66279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 J 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 M, Chu T F, et al. Research on Collaborative Optimization of Virtual Power Plant Based on Demand Response Potential[C]//2024 Second International Conference on Cyber-Energy Systems and Intelligent Energy (ICCSIE). IEEE, 2024: 1-5.</a:t>
            </a:r>
          </a:p>
          <a:p>
            <a:pPr algn="just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2.Regional Autonomy Strategy of Multi-Virtual Power Plant Considering Waste Incineration and Cloud Energy Storage Operator: A Low-Carbon Mixed Game Method.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（已录用，导师一作，学生二作）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3.Liu X R, Li M, Wang R, 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 J 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Low-carbon operation of multi-virtual power plants with hydrogen doping and load aggregator based on bilateral cooperative game [J]. 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2024, 309: 132984.</a:t>
            </a:r>
          </a:p>
          <a:p>
            <a:pPr algn="just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4.Chu T F, Wang T, Li M, 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 J 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Research on the collaborative management of internal and external fluctuations and optimization of power trading in multi-virtual power plants [J]. Frontiers in Energy Research, 2024, 11: 1337205.</a:t>
            </a:r>
          </a:p>
          <a:p>
            <a:pPr algn="just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5.Li Z, Liu Z, Ni Y L, 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 J B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A Knowledge Extraction System Based on Weight Optimization Applied and Evaluated to Distribution Network Fault Assistant Decision [C]//2022 4th International Conference on Smart Power &amp; Internet Energy Systems (SPIES). IEEE, 2022: 1151-1156.</a:t>
            </a:r>
          </a:p>
          <a:p>
            <a:pPr algn="just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069CA43-23F5-D5A5-6BC1-85F18DF69002}"/>
              </a:ext>
            </a:extLst>
          </p:cNvPr>
          <p:cNvSpPr/>
          <p:nvPr/>
        </p:nvSpPr>
        <p:spPr>
          <a:xfrm>
            <a:off x="467544" y="3874348"/>
            <a:ext cx="1152128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荣誉奖励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B22620-1F33-402A-5B16-BE7C487EF955}"/>
              </a:ext>
            </a:extLst>
          </p:cNvPr>
          <p:cNvSpPr/>
          <p:nvPr/>
        </p:nvSpPr>
        <p:spPr>
          <a:xfrm>
            <a:off x="1821240" y="3879080"/>
            <a:ext cx="6713482" cy="962518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C7ECC8-F467-1D2E-725A-76F27227E6F0}"/>
              </a:ext>
            </a:extLst>
          </p:cNvPr>
          <p:cNvSpPr txBox="1"/>
          <p:nvPr/>
        </p:nvSpPr>
        <p:spPr>
          <a:xfrm>
            <a:off x="1864011" y="3902361"/>
            <a:ext cx="6627940" cy="95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1.  2022.11 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东北大学硕士生一等学业奖学金                 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2.  2023.10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中国航天科技公司奖学金</a:t>
            </a:r>
          </a:p>
          <a:p>
            <a:pPr algn="just">
              <a:lnSpc>
                <a:spcPct val="114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3.  2023.11 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东北大学硕士生一等学业奖学金                 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4.  2023.12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东北大学优秀研究生</a:t>
            </a:r>
          </a:p>
          <a:p>
            <a:pPr algn="just">
              <a:lnSpc>
                <a:spcPct val="114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5.  2024.06 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东北大学优秀学生共产党员                         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6.  2024.11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东北大学硕士生一等学业奖学金 </a:t>
            </a:r>
          </a:p>
          <a:p>
            <a:pPr algn="just">
              <a:lnSpc>
                <a:spcPct val="114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7.  2024.12 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东北大学优秀研究生干部                             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8.  2025.01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东北大学优秀毕业研究生干部</a:t>
            </a:r>
            <a:endParaRPr lang="en-US" altLang="zh-CN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9.  2025.03  </a:t>
            </a:r>
            <a:r>
              <a:rPr lang="zh-CN" altLang="en-US" sz="1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辽宁省优秀毕业生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448750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19AC34-3BFD-8952-A4F2-070CCE7032C8}"/>
              </a:ext>
            </a:extLst>
          </p:cNvPr>
          <p:cNvSpPr/>
          <p:nvPr/>
        </p:nvSpPr>
        <p:spPr>
          <a:xfrm>
            <a:off x="978470" y="1598847"/>
            <a:ext cx="7187060" cy="237589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C6104F5A-6F8E-C68F-5CE4-8D69F096069C}"/>
              </a:ext>
            </a:extLst>
          </p:cNvPr>
          <p:cNvSpPr txBox="1"/>
          <p:nvPr/>
        </p:nvSpPr>
        <p:spPr>
          <a:xfrm>
            <a:off x="989541" y="1910317"/>
            <a:ext cx="7331075" cy="14826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</a:t>
            </a:r>
            <a:endParaRPr lang="en-US" altLang="zh-CN" sz="3200" b="1" dirty="0">
              <a:ln w="6350"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</a:t>
            </a:r>
          </a:p>
        </p:txBody>
      </p:sp>
      <p:pic>
        <p:nvPicPr>
          <p:cNvPr id="9" name="Picture 2" descr="C:\Users\YY\Desktop\1e104821e5dde711554d5b53a7efce1b9c16617b.jpg">
            <a:extLst>
              <a:ext uri="{FF2B5EF4-FFF2-40B4-BE49-F238E27FC236}">
                <a16:creationId xmlns:a16="http://schemas.microsoft.com/office/drawing/2014/main" id="{8689FD85-F6D0-EDA3-EEBD-390369A51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167172"/>
            <a:ext cx="2448272" cy="90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63FBE9C-8D86-08D3-B562-C326CD6B87E2}"/>
              </a:ext>
            </a:extLst>
          </p:cNvPr>
          <p:cNvCxnSpPr/>
          <p:nvPr/>
        </p:nvCxnSpPr>
        <p:spPr>
          <a:xfrm>
            <a:off x="1954779" y="3435052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EC52F32-487C-FB02-9472-87280270243A}"/>
              </a:ext>
            </a:extLst>
          </p:cNvPr>
          <p:cNvSpPr txBox="1"/>
          <p:nvPr/>
        </p:nvSpPr>
        <p:spPr>
          <a:xfrm>
            <a:off x="3131840" y="3519224"/>
            <a:ext cx="329332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答辩人：冯俊博     指导老师：刘鑫蕊</a:t>
            </a:r>
          </a:p>
        </p:txBody>
      </p:sp>
    </p:spTree>
    <p:extLst>
      <p:ext uri="{BB962C8B-B14F-4D97-AF65-F5344CB8AC3E}">
        <p14:creationId xmlns:p14="http://schemas.microsoft.com/office/powerpoint/2010/main" val="2883172247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12234</TotalTime>
  <Words>4508</Words>
  <Application>Microsoft Office PowerPoint</Application>
  <PresentationFormat>自定义</PresentationFormat>
  <Paragraphs>361</Paragraphs>
  <Slides>38</Slides>
  <Notes>38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7" baseType="lpstr">
      <vt:lpstr>等线</vt:lpstr>
      <vt:lpstr>等线 Light</vt:lpstr>
      <vt:lpstr>宋体</vt:lpstr>
      <vt:lpstr>微软雅黑</vt:lpstr>
      <vt:lpstr>微软雅黑 Light</vt:lpstr>
      <vt:lpstr>Arial</vt:lpstr>
      <vt:lpstr>Calibri</vt:lpstr>
      <vt:lpstr>Calibri Light</vt:lpstr>
      <vt:lpstr>Century Gothic</vt:lpstr>
      <vt:lpstr>Impact</vt:lpstr>
      <vt:lpstr>Times New Roman</vt:lpstr>
      <vt:lpstr>Wingdings</vt:lpstr>
      <vt:lpstr>Wingdings 2</vt:lpstr>
      <vt:lpstr>Office 主题​​</vt:lpstr>
      <vt:lpstr>1_Office 主题​​</vt:lpstr>
      <vt:lpstr>Office Theme</vt:lpstr>
      <vt:lpstr>Equation</vt:lpstr>
      <vt:lpstr>Visio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蓝色渐变</dc:title>
  <dc:creator>第一PPT</dc:creator>
  <cp:keywords>www.1ppt.com</cp:keywords>
  <dc:description>www.1ppt.com</dc:description>
  <cp:lastModifiedBy>冯 俊博</cp:lastModifiedBy>
  <cp:revision>703</cp:revision>
  <dcterms:created xsi:type="dcterms:W3CDTF">2016-02-27T06:12:00Z</dcterms:created>
  <dcterms:modified xsi:type="dcterms:W3CDTF">2025-04-28T08:50:51Z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